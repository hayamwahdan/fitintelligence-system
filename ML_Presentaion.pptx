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6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0691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7.png"/><Relationship Id="rId5" Type="http://schemas.openxmlformats.org/officeDocument/2006/relationships/image" Target="../media/image31.pn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71550" y="1428750"/>
            <a:ext cx="6475065" cy="15716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6188"/>
              </a:lnSpc>
              <a:buNone/>
            </a:pPr>
            <a:r>
              <a:rPr lang="en-US" sz="49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Performance
Analytics</a:t>
            </a:r>
            <a:endParaRPr lang="en-US" sz="4950" dirty="0"/>
          </a:p>
        </p:txBody>
      </p:sp>
      <p:sp>
        <p:nvSpPr>
          <p:cNvPr id="4" name="Text 1"/>
          <p:cNvSpPr/>
          <p:nvPr/>
        </p:nvSpPr>
        <p:spPr>
          <a:xfrm>
            <a:off x="971550" y="3038475"/>
            <a:ext cx="15201900" cy="5139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047"/>
              </a:lnSpc>
              <a:buNone/>
            </a:pPr>
            <a:r>
              <a:rPr lang="en-US" sz="28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&amp; Intelligent Classification System</a:t>
            </a:r>
            <a:endParaRPr lang="en-US" sz="2850" dirty="0"/>
          </a:p>
        </p:txBody>
      </p:sp>
      <p:sp>
        <p:nvSpPr>
          <p:cNvPr id="5" name="Text 2"/>
          <p:cNvSpPr/>
          <p:nvPr/>
        </p:nvSpPr>
        <p:spPr>
          <a:xfrm>
            <a:off x="990600" y="3876675"/>
            <a:ext cx="5930205" cy="75128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958"/>
              </a:lnSpc>
              <a:buNone/>
            </a:pPr>
            <a:r>
              <a:rPr lang="en-US" sz="2175" dirty="0">
                <a:solidFill>
                  <a:srgbClr val="B6B6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 complete machine learning lifecycle —
from raw data to trained models</a:t>
            </a:r>
            <a:endParaRPr lang="en-US" sz="2175" dirty="0"/>
          </a:p>
        </p:txBody>
      </p:sp>
      <p:sp>
        <p:nvSpPr>
          <p:cNvPr id="6" name="Text 3"/>
          <p:cNvSpPr/>
          <p:nvPr/>
        </p:nvSpPr>
        <p:spPr>
          <a:xfrm>
            <a:off x="990600" y="742950"/>
            <a:ext cx="10058400" cy="29125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94"/>
              </a:lnSpc>
              <a:buNone/>
            </a:pPr>
            <a:r>
              <a:rPr lang="en-US" sz="1650" dirty="0">
                <a:solidFill>
                  <a:srgbClr val="57EF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INTRODUCTION TO AI &amp; ML – COURSE PROJECT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990600" y="5286375"/>
            <a:ext cx="7156103" cy="5563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190"/>
              </a:lnSpc>
              <a:buNone/>
            </a:pPr>
            <a:r>
              <a:rPr lang="en-US" sz="1500" dirty="0">
                <a:solidFill>
                  <a:srgbClr val="B6B6B6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Dataset: Body Performance Dataset (bodyPerformance.csv)
Tools: Python · scikit-learn · TensorFlow/Keras · Google Colab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90600" y="6153150"/>
            <a:ext cx="14630400" cy="20270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96"/>
              </a:lnSpc>
              <a:buNone/>
            </a:pPr>
            <a:r>
              <a:rPr lang="en-US" sz="1200" dirty="0">
                <a:solidFill>
                  <a:srgbClr val="57EF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Academic Integrity: AI-assisted development – all analysis is original team work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666065" y="6467475"/>
            <a:ext cx="114300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339"/>
              </a:lnSpc>
              <a:buNone/>
            </a:pPr>
            <a:r>
              <a:rPr lang="en-US" sz="1125" dirty="0">
                <a:solidFill>
                  <a:srgbClr val="57EFE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1</a:t>
            </a:r>
            <a:endParaRPr lang="en-US" sz="1125" dirty="0"/>
          </a:p>
        </p:txBody>
      </p:sp>
    </p:spTree>
  </p:cSld>
  <p:clrMapOvr>
    <a:masterClrMapping/>
  </p:clrMapOvr>
  <p:transition spd="med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1686" y="2359075"/>
            <a:ext cx="2730996" cy="2585442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57225" y="876300"/>
            <a:ext cx="21088350" cy="51003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016"/>
              </a:lnSpc>
              <a:buNone/>
            </a:pPr>
            <a:r>
              <a:rPr lang="en-US" sz="33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Introduction and Dataset Overview</a:t>
            </a:r>
            <a:endParaRPr lang="en-US" sz="3375" dirty="0"/>
          </a:p>
        </p:txBody>
      </p:sp>
      <p:sp>
        <p:nvSpPr>
          <p:cNvPr id="5" name="Text 1"/>
          <p:cNvSpPr/>
          <p:nvPr/>
        </p:nvSpPr>
        <p:spPr>
          <a:xfrm>
            <a:off x="7724775" y="2371725"/>
            <a:ext cx="3413760" cy="36269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856"/>
              </a:lnSpc>
              <a:buNone/>
            </a:pPr>
            <a:r>
              <a:rPr lang="en-US" sz="2400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13,393</a:t>
            </a:r>
            <a:endParaRPr lang="en-US" sz="2400" dirty="0"/>
          </a:p>
        </p:txBody>
      </p:sp>
      <p:sp>
        <p:nvSpPr>
          <p:cNvPr id="6" name="Text 2"/>
          <p:cNvSpPr/>
          <p:nvPr/>
        </p:nvSpPr>
        <p:spPr>
          <a:xfrm>
            <a:off x="8582025" y="2971800"/>
            <a:ext cx="876300" cy="26074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53"/>
              </a:lnSpc>
              <a:buNone/>
            </a:pPr>
            <a:r>
              <a:rPr lang="en-US" sz="1725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12</a:t>
            </a:r>
            <a:endParaRPr lang="en-US" sz="1725" dirty="0"/>
          </a:p>
        </p:txBody>
      </p:sp>
      <p:sp>
        <p:nvSpPr>
          <p:cNvPr id="7" name="Text 3"/>
          <p:cNvSpPr/>
          <p:nvPr/>
        </p:nvSpPr>
        <p:spPr>
          <a:xfrm>
            <a:off x="8696325" y="3609975"/>
            <a:ext cx="571500" cy="34007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78"/>
              </a:lnSpc>
              <a:buNone/>
            </a:pPr>
            <a:r>
              <a:rPr lang="en-US" sz="2250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2250" dirty="0"/>
          </a:p>
        </p:txBody>
      </p:sp>
      <p:sp>
        <p:nvSpPr>
          <p:cNvPr id="8" name="Text 4"/>
          <p:cNvSpPr/>
          <p:nvPr/>
        </p:nvSpPr>
        <p:spPr>
          <a:xfrm>
            <a:off x="714375" y="1905000"/>
            <a:ext cx="3714750" cy="2833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PROJECT SCOPE</a:t>
            </a:r>
            <a:endParaRPr lang="en-US" sz="1875" dirty="0"/>
          </a:p>
        </p:txBody>
      </p:sp>
      <p:sp>
        <p:nvSpPr>
          <p:cNvPr id="9" name="Text 5"/>
          <p:cNvSpPr/>
          <p:nvPr/>
        </p:nvSpPr>
        <p:spPr>
          <a:xfrm>
            <a:off x="7724775" y="1905000"/>
            <a:ext cx="6286500" cy="2833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DATASET SPECIFICATIONS</a:t>
            </a:r>
            <a:endParaRPr lang="en-US" sz="1875" dirty="0"/>
          </a:p>
        </p:txBody>
      </p:sp>
      <p:sp>
        <p:nvSpPr>
          <p:cNvPr id="10" name="Text 6"/>
          <p:cNvSpPr/>
          <p:nvPr/>
        </p:nvSpPr>
        <p:spPr>
          <a:xfrm>
            <a:off x="876300" y="2343150"/>
            <a:ext cx="456057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ML Lifecycle</a:t>
            </a:r>
            <a:endParaRPr lang="en-US" sz="1425" dirty="0"/>
          </a:p>
        </p:txBody>
      </p:sp>
      <p:sp>
        <p:nvSpPr>
          <p:cNvPr id="11" name="Text 7"/>
          <p:cNvSpPr/>
          <p:nvPr/>
        </p:nvSpPr>
        <p:spPr>
          <a:xfrm>
            <a:off x="876300" y="2971800"/>
            <a:ext cx="412623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Dual Learning Tasks</a:t>
            </a:r>
            <a:endParaRPr lang="en-US" sz="1425" dirty="0"/>
          </a:p>
        </p:txBody>
      </p:sp>
      <p:sp>
        <p:nvSpPr>
          <p:cNvPr id="12" name="Text 8"/>
          <p:cNvSpPr/>
          <p:nvPr/>
        </p:nvSpPr>
        <p:spPr>
          <a:xfrm>
            <a:off x="876300" y="3848100"/>
            <a:ext cx="477774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Real-World Application</a:t>
            </a:r>
            <a:endParaRPr lang="en-US" sz="1425" dirty="0"/>
          </a:p>
        </p:txBody>
      </p:sp>
      <p:sp>
        <p:nvSpPr>
          <p:cNvPr id="13" name="Text 9"/>
          <p:cNvSpPr/>
          <p:nvPr/>
        </p:nvSpPr>
        <p:spPr>
          <a:xfrm>
            <a:off x="876300" y="4705350"/>
            <a:ext cx="390906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Academic Framework</a:t>
            </a:r>
            <a:endParaRPr lang="en-US" sz="1425" dirty="0"/>
          </a:p>
        </p:txBody>
      </p:sp>
      <p:sp>
        <p:nvSpPr>
          <p:cNvPr id="14" name="Text 10"/>
          <p:cNvSpPr/>
          <p:nvPr/>
        </p:nvSpPr>
        <p:spPr>
          <a:xfrm>
            <a:off x="9086850" y="2343150"/>
            <a:ext cx="1440180" cy="18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Records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9086850" y="2886075"/>
            <a:ext cx="1554480" cy="1765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Features</a:t>
            </a:r>
            <a:endParaRPr lang="en-US" sz="1275" dirty="0"/>
          </a:p>
        </p:txBody>
      </p:sp>
      <p:sp>
        <p:nvSpPr>
          <p:cNvPr id="16" name="Text 12"/>
          <p:cNvSpPr/>
          <p:nvPr/>
        </p:nvSpPr>
        <p:spPr>
          <a:xfrm>
            <a:off x="9086850" y="3619500"/>
            <a:ext cx="3909060" cy="18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Classes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7724775" y="4343400"/>
            <a:ext cx="2468880" cy="18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Demographics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7724775" y="5219700"/>
            <a:ext cx="3040380" cy="197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53"/>
              </a:lnSpc>
              <a:buNone/>
            </a:pPr>
            <a:r>
              <a:rPr lang="en-US" sz="1425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Cardiovascular</a:t>
            </a:r>
            <a:endParaRPr lang="en-US" sz="1425" dirty="0"/>
          </a:p>
        </p:txBody>
      </p:sp>
      <p:sp>
        <p:nvSpPr>
          <p:cNvPr id="19" name="Text 15"/>
          <p:cNvSpPr/>
          <p:nvPr/>
        </p:nvSpPr>
        <p:spPr>
          <a:xfrm>
            <a:off x="9801225" y="4343400"/>
            <a:ext cx="3291840" cy="18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72"/>
              </a:lnSpc>
              <a:buNone/>
            </a:pPr>
            <a:r>
              <a:rPr lang="en-US" sz="1350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Body Composition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9801225" y="5219700"/>
            <a:ext cx="3691890" cy="1765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7FFFD4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Performance Metrics</a:t>
            </a:r>
            <a:endParaRPr lang="en-US" sz="1275" dirty="0"/>
          </a:p>
        </p:txBody>
      </p:sp>
      <p:sp>
        <p:nvSpPr>
          <p:cNvPr id="21" name="Text 17"/>
          <p:cNvSpPr/>
          <p:nvPr/>
        </p:nvSpPr>
        <p:spPr>
          <a:xfrm>
            <a:off x="742950" y="333375"/>
            <a:ext cx="609600" cy="1660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00CED1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02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876300" y="2619375"/>
            <a:ext cx="7315200" cy="2266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From raw data to deployed models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876300" y="3238500"/>
            <a:ext cx="3949898" cy="4533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Classification (fitness grades A-D) +
Regression (jump distance)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76300" y="4114800"/>
            <a:ext cx="3614738" cy="4533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Human performance analytics for
fitness evaluation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876300" y="4972050"/>
            <a:ext cx="4128046" cy="4533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Introduction to AI &amp; Machine Learning
course project</a:t>
            </a:r>
            <a:endParaRPr lang="en-US" sz="1500" dirty="0"/>
          </a:p>
        </p:txBody>
      </p:sp>
      <p:sp>
        <p:nvSpPr>
          <p:cNvPr id="26" name="Text 22"/>
          <p:cNvSpPr/>
          <p:nvPr/>
        </p:nvSpPr>
        <p:spPr>
          <a:xfrm>
            <a:off x="9086850" y="2619375"/>
            <a:ext cx="5120640" cy="18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Complete fitness evaluations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9086850" y="3114675"/>
            <a:ext cx="2388840" cy="3854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17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Physical and demographic
measurements</a:t>
            </a:r>
            <a:endParaRPr lang="en-US" sz="1275" dirty="0"/>
          </a:p>
        </p:txBody>
      </p:sp>
      <p:sp>
        <p:nvSpPr>
          <p:cNvPr id="28" name="Text 24"/>
          <p:cNvSpPr/>
          <p:nvPr/>
        </p:nvSpPr>
        <p:spPr>
          <a:xfrm>
            <a:off x="9086850" y="3857625"/>
            <a:ext cx="5303520" cy="18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(best) through D (baseline)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7724775" y="4610100"/>
            <a:ext cx="2116336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Age, Gender, Height,
Weight</a:t>
            </a:r>
            <a:endParaRPr lang="en-US" sz="1425" dirty="0"/>
          </a:p>
        </p:txBody>
      </p:sp>
      <p:sp>
        <p:nvSpPr>
          <p:cNvPr id="30" name="Text 26"/>
          <p:cNvSpPr/>
          <p:nvPr/>
        </p:nvSpPr>
        <p:spPr>
          <a:xfrm>
            <a:off x="7724775" y="5486400"/>
            <a:ext cx="1969740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Diastolic &amp; systolic
blood pressure</a:t>
            </a:r>
            <a:endParaRPr lang="en-US" sz="1425" dirty="0"/>
          </a:p>
        </p:txBody>
      </p:sp>
      <p:sp>
        <p:nvSpPr>
          <p:cNvPr id="31" name="Text 27"/>
          <p:cNvSpPr/>
          <p:nvPr/>
        </p:nvSpPr>
        <p:spPr>
          <a:xfrm>
            <a:off x="9801225" y="4610100"/>
            <a:ext cx="2116336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Body fat percentage,
BMI</a:t>
            </a:r>
            <a:endParaRPr lang="en-US" sz="1425" dirty="0"/>
          </a:p>
        </p:txBody>
      </p:sp>
      <p:sp>
        <p:nvSpPr>
          <p:cNvPr id="32" name="Text 28"/>
          <p:cNvSpPr/>
          <p:nvPr/>
        </p:nvSpPr>
        <p:spPr>
          <a:xfrm>
            <a:off x="9801225" y="5486400"/>
            <a:ext cx="2022128" cy="4080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Grip force, flexibility,
sit-ups, broad jump</a:t>
            </a:r>
            <a:endParaRPr lang="en-US" sz="1350" dirty="0"/>
          </a:p>
        </p:txBody>
      </p:sp>
      <p:sp>
        <p:nvSpPr>
          <p:cNvPr id="33" name="Text 29"/>
          <p:cNvSpPr/>
          <p:nvPr/>
        </p:nvSpPr>
        <p:spPr>
          <a:xfrm>
            <a:off x="771525" y="5819775"/>
            <a:ext cx="5966460" cy="2040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AI Tools Assisted Development</a:t>
            </a:r>
            <a:endParaRPr lang="en-US" sz="1350" dirty="0"/>
          </a:p>
        </p:txBody>
      </p:sp>
      <p:sp>
        <p:nvSpPr>
          <p:cNvPr id="34" name="Text 30"/>
          <p:cNvSpPr/>
          <p:nvPr/>
        </p:nvSpPr>
        <p:spPr>
          <a:xfrm>
            <a:off x="771525" y="6067425"/>
            <a:ext cx="9086850" cy="16996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39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All analysis and interpretation is original team work</a:t>
            </a:r>
            <a:endParaRPr lang="en-US" sz="1125" dirty="0"/>
          </a:p>
        </p:txBody>
      </p:sp>
    </p:spTree>
  </p:cSld>
  <p:clrMapOvr>
    <a:masterClrMapping/>
  </p:clrMapOvr>
  <p:transition spd="slow">
    <p:wipe dir="r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0479" y="2098477"/>
            <a:ext cx="4267200" cy="281166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361" y="4423321"/>
            <a:ext cx="268188" cy="253603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4173" y="4430167"/>
            <a:ext cx="219373" cy="21937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2361" y="3799284"/>
            <a:ext cx="268188" cy="26059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4173" y="3799284"/>
            <a:ext cx="219373" cy="21937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2361" y="3175248"/>
            <a:ext cx="268188" cy="253603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24173" y="3175248"/>
            <a:ext cx="219373" cy="23991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4173" y="2537371"/>
            <a:ext cx="572988" cy="274290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90550" y="914400"/>
            <a:ext cx="13270230" cy="5119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031"/>
              </a:lnSpc>
              <a:buNone/>
            </a:pPr>
            <a:r>
              <a:rPr lang="en-US" sz="322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Data Preparation &amp; Cleaning</a:t>
            </a:r>
            <a:endParaRPr lang="en-US" sz="3225" dirty="0"/>
          </a:p>
        </p:txBody>
      </p:sp>
      <p:sp>
        <p:nvSpPr>
          <p:cNvPr id="12" name="Text 1"/>
          <p:cNvSpPr/>
          <p:nvPr/>
        </p:nvSpPr>
        <p:spPr>
          <a:xfrm>
            <a:off x="590550" y="285750"/>
            <a:ext cx="1447800" cy="3945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107"/>
              </a:lnSpc>
              <a:buNone/>
            </a:pPr>
            <a:r>
              <a:rPr lang="en-US" sz="2850" b="1" dirty="0">
                <a:solidFill>
                  <a:srgbClr val="00CED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03</a:t>
            </a:r>
            <a:endParaRPr lang="en-US" sz="2850" dirty="0"/>
          </a:p>
        </p:txBody>
      </p:sp>
      <p:sp>
        <p:nvSpPr>
          <p:cNvPr id="13" name="Text 2"/>
          <p:cNvSpPr/>
          <p:nvPr/>
        </p:nvSpPr>
        <p:spPr>
          <a:xfrm>
            <a:off x="590550" y="2114550"/>
            <a:ext cx="4080510" cy="2379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00CED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Cleaning Pipeline</a:t>
            </a:r>
            <a:endParaRPr lang="en-US" sz="1575" dirty="0"/>
          </a:p>
        </p:txBody>
      </p:sp>
      <p:sp>
        <p:nvSpPr>
          <p:cNvPr id="14" name="Text 3"/>
          <p:cNvSpPr/>
          <p:nvPr/>
        </p:nvSpPr>
        <p:spPr>
          <a:xfrm>
            <a:off x="590550" y="5153025"/>
            <a:ext cx="8046720" cy="2494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63"/>
              </a:lnSpc>
              <a:buNone/>
            </a:pPr>
            <a:r>
              <a:rPr lang="en-US" sz="1650" b="1" dirty="0">
                <a:solidFill>
                  <a:srgbClr val="00CED1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Critical Preprocessing Decisions</a:t>
            </a:r>
            <a:endParaRPr lang="en-US" sz="1650" dirty="0"/>
          </a:p>
        </p:txBody>
      </p:sp>
      <p:sp>
        <p:nvSpPr>
          <p:cNvPr id="15" name="Text 4"/>
          <p:cNvSpPr/>
          <p:nvPr/>
        </p:nvSpPr>
        <p:spPr>
          <a:xfrm>
            <a:off x="590550" y="1562100"/>
            <a:ext cx="17716500" cy="2833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dirty="0">
                <a:solidFill>
                  <a:srgbClr val="80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Rigorous preprocessing workflow for physiological measurements</a:t>
            </a:r>
            <a:endParaRPr lang="en-US" sz="1875" dirty="0"/>
          </a:p>
        </p:txBody>
      </p:sp>
      <p:sp>
        <p:nvSpPr>
          <p:cNvPr id="16" name="Text 5"/>
          <p:cNvSpPr/>
          <p:nvPr/>
        </p:nvSpPr>
        <p:spPr>
          <a:xfrm>
            <a:off x="1162050" y="2571750"/>
            <a:ext cx="427482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Missing Value Analysis</a:t>
            </a:r>
            <a:endParaRPr lang="en-US" sz="1275" dirty="0"/>
          </a:p>
        </p:txBody>
      </p:sp>
      <p:sp>
        <p:nvSpPr>
          <p:cNvPr id="17" name="Text 6"/>
          <p:cNvSpPr/>
          <p:nvPr/>
        </p:nvSpPr>
        <p:spPr>
          <a:xfrm>
            <a:off x="1162050" y="3209925"/>
            <a:ext cx="369189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Duplicate Detection</a:t>
            </a:r>
            <a:endParaRPr lang="en-US" sz="1275" dirty="0"/>
          </a:p>
        </p:txBody>
      </p:sp>
      <p:sp>
        <p:nvSpPr>
          <p:cNvPr id="18" name="Text 7"/>
          <p:cNvSpPr/>
          <p:nvPr/>
        </p:nvSpPr>
        <p:spPr>
          <a:xfrm>
            <a:off x="1162050" y="3800475"/>
            <a:ext cx="485775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Validity Rule Application</a:t>
            </a:r>
            <a:endParaRPr lang="en-US" sz="1275" dirty="0"/>
          </a:p>
        </p:txBody>
      </p:sp>
      <p:sp>
        <p:nvSpPr>
          <p:cNvPr id="19" name="Text 8"/>
          <p:cNvSpPr/>
          <p:nvPr/>
        </p:nvSpPr>
        <p:spPr>
          <a:xfrm>
            <a:off x="1162050" y="4410075"/>
            <a:ext cx="349758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Outlier Management</a:t>
            </a:r>
            <a:endParaRPr lang="en-US" sz="1275" dirty="0"/>
          </a:p>
        </p:txBody>
      </p:sp>
      <p:sp>
        <p:nvSpPr>
          <p:cNvPr id="20" name="Text 9"/>
          <p:cNvSpPr/>
          <p:nvPr/>
        </p:nvSpPr>
        <p:spPr>
          <a:xfrm>
            <a:off x="4733925" y="3209925"/>
            <a:ext cx="2713583" cy="5956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64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Original Dataset: 13,393 rows
After Cleaning: ~13,200 rows
Data Quality: 98.5% retained</a:t>
            </a:r>
            <a:endParaRPr lang="en-US" sz="1125" dirty="0"/>
          </a:p>
        </p:txBody>
      </p:sp>
      <p:sp>
        <p:nvSpPr>
          <p:cNvPr id="21" name="Text 10"/>
          <p:cNvSpPr/>
          <p:nvPr/>
        </p:nvSpPr>
        <p:spPr>
          <a:xfrm>
            <a:off x="1162050" y="2847975"/>
            <a:ext cx="6347460" cy="1619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7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&lt;1% of critical columns affected</a:t>
            </a:r>
            <a:endParaRPr lang="en-US" sz="1275" dirty="0"/>
          </a:p>
        </p:txBody>
      </p:sp>
      <p:sp>
        <p:nvSpPr>
          <p:cNvPr id="22" name="Text 11"/>
          <p:cNvSpPr/>
          <p:nvPr/>
        </p:nvSpPr>
        <p:spPr>
          <a:xfrm>
            <a:off x="1162050" y="3457575"/>
            <a:ext cx="7578090" cy="1619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7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Exact duplicates identified and removed</a:t>
            </a:r>
            <a:endParaRPr lang="en-US" sz="1275" dirty="0"/>
          </a:p>
        </p:txBody>
      </p:sp>
      <p:sp>
        <p:nvSpPr>
          <p:cNvPr id="23" name="Text 12"/>
          <p:cNvSpPr/>
          <p:nvPr/>
        </p:nvSpPr>
        <p:spPr>
          <a:xfrm>
            <a:off x="1162050" y="4057650"/>
            <a:ext cx="7966710" cy="1619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7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Domain-specific physiological constraints</a:t>
            </a:r>
            <a:endParaRPr lang="en-US" sz="1275" dirty="0"/>
          </a:p>
        </p:txBody>
      </p:sp>
      <p:sp>
        <p:nvSpPr>
          <p:cNvPr id="24" name="Text 13"/>
          <p:cNvSpPr/>
          <p:nvPr/>
        </p:nvSpPr>
        <p:spPr>
          <a:xfrm>
            <a:off x="1162050" y="4676775"/>
            <a:ext cx="8161020" cy="16192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75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Statistical and medical thresholds applied</a:t>
            </a:r>
            <a:endParaRPr lang="en-US" sz="1275" dirty="0"/>
          </a:p>
        </p:txBody>
      </p:sp>
      <p:sp>
        <p:nvSpPr>
          <p:cNvPr id="25" name="Text 14"/>
          <p:cNvSpPr/>
          <p:nvPr/>
        </p:nvSpPr>
        <p:spPr>
          <a:xfrm>
            <a:off x="657225" y="5676900"/>
            <a:ext cx="427482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Physiological Validity</a:t>
            </a:r>
            <a:endParaRPr lang="en-US" sz="1275" dirty="0"/>
          </a:p>
        </p:txBody>
      </p:sp>
      <p:sp>
        <p:nvSpPr>
          <p:cNvPr id="26" name="Text 15"/>
          <p:cNvSpPr/>
          <p:nvPr/>
        </p:nvSpPr>
        <p:spPr>
          <a:xfrm>
            <a:off x="657225" y="5924550"/>
            <a:ext cx="3970883" cy="450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fat: 5-60% range enforced
Blood pressure: Medical thresholds applied</a:t>
            </a:r>
            <a:endParaRPr lang="en-US" sz="1275" dirty="0"/>
          </a:p>
        </p:txBody>
      </p:sp>
      <p:sp>
        <p:nvSpPr>
          <p:cNvPr id="27" name="Text 16"/>
          <p:cNvSpPr/>
          <p:nvPr/>
        </p:nvSpPr>
        <p:spPr>
          <a:xfrm>
            <a:off x="4457700" y="5676900"/>
            <a:ext cx="349758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Strategic Deletion</a:t>
            </a:r>
            <a:endParaRPr lang="en-US" sz="1275" dirty="0"/>
          </a:p>
        </p:txBody>
      </p:sp>
      <p:sp>
        <p:nvSpPr>
          <p:cNvPr id="28" name="Text 17"/>
          <p:cNvSpPr/>
          <p:nvPr/>
        </p:nvSpPr>
        <p:spPr>
          <a:xfrm>
            <a:off x="4457700" y="5924550"/>
            <a:ext cx="3771900" cy="450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Rows with invalid measurements dropped
Imputation avoided to prevent bias</a:t>
            </a:r>
            <a:endParaRPr lang="en-US" sz="1275" dirty="0"/>
          </a:p>
        </p:txBody>
      </p:sp>
      <p:sp>
        <p:nvSpPr>
          <p:cNvPr id="29" name="Text 18"/>
          <p:cNvSpPr/>
          <p:nvPr/>
        </p:nvSpPr>
        <p:spPr>
          <a:xfrm>
            <a:off x="8277225" y="5676900"/>
            <a:ext cx="3886200" cy="2250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72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Quality Preservation</a:t>
            </a:r>
            <a:endParaRPr lang="en-US" sz="1275" dirty="0"/>
          </a:p>
        </p:txBody>
      </p:sp>
      <p:sp>
        <p:nvSpPr>
          <p:cNvPr id="30" name="Text 19"/>
          <p:cNvSpPr/>
          <p:nvPr/>
        </p:nvSpPr>
        <p:spPr>
          <a:xfrm>
            <a:off x="8277225" y="5924550"/>
            <a:ext cx="3048893" cy="4235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68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98.5% of original data retained
Measurement integrity maintained</a:t>
            </a:r>
            <a:endParaRPr lang="en-US" sz="1200" dirty="0"/>
          </a:p>
        </p:txBody>
      </p:sp>
      <p:sp>
        <p:nvSpPr>
          <p:cNvPr id="31" name="Text 20"/>
          <p:cNvSpPr/>
          <p:nvPr/>
        </p:nvSpPr>
        <p:spPr>
          <a:xfrm>
            <a:off x="10146000" y="6610350"/>
            <a:ext cx="1920240" cy="1372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080"/>
              </a:lnSpc>
              <a:buNone/>
            </a:pPr>
            <a:r>
              <a:rPr lang="en-US" sz="900" dirty="0">
                <a:solidFill>
                  <a:srgbClr val="5E5E5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3 of 10</a:t>
            </a:r>
            <a:endParaRPr lang="en-US" sz="900" dirty="0"/>
          </a:p>
        </p:txBody>
      </p:sp>
    </p:spTree>
  </p:cSld>
  <p:clrMapOvr>
    <a:masterClrMapping/>
  </p:clrMapOvr>
  <p:transition spd="med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2996" y="2393305"/>
            <a:ext cx="341263" cy="308521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2114550" y="419100"/>
            <a:ext cx="8938260" cy="5258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Key Data Insights</a:t>
            </a:r>
            <a:endParaRPr lang="en-US" sz="3450" dirty="0"/>
          </a:p>
        </p:txBody>
      </p:sp>
      <p:sp>
        <p:nvSpPr>
          <p:cNvPr id="5" name="Text 1"/>
          <p:cNvSpPr/>
          <p:nvPr/>
        </p:nvSpPr>
        <p:spPr>
          <a:xfrm>
            <a:off x="590550" y="419100"/>
            <a:ext cx="2362200" cy="70276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534"/>
              </a:lnSpc>
              <a:buNone/>
            </a:pPr>
            <a:r>
              <a:rPr lang="en-US" sz="4650" b="1" dirty="0">
                <a:solidFill>
                  <a:srgbClr val="37B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04</a:t>
            </a:r>
            <a:endParaRPr lang="en-US" sz="4650" dirty="0"/>
          </a:p>
        </p:txBody>
      </p:sp>
      <p:sp>
        <p:nvSpPr>
          <p:cNvPr id="6" name="Text 2"/>
          <p:cNvSpPr/>
          <p:nvPr/>
        </p:nvSpPr>
        <p:spPr>
          <a:xfrm>
            <a:off x="657225" y="1790700"/>
            <a:ext cx="6858000" cy="3000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Distribution Discoveries</a:t>
            </a:r>
            <a:endParaRPr lang="en-US" sz="1875" dirty="0"/>
          </a:p>
        </p:txBody>
      </p:sp>
      <p:sp>
        <p:nvSpPr>
          <p:cNvPr id="7" name="Text 3"/>
          <p:cNvSpPr/>
          <p:nvPr/>
        </p:nvSpPr>
        <p:spPr>
          <a:xfrm>
            <a:off x="657225" y="3962400"/>
            <a:ext cx="6572250" cy="3000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363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Correlation Revelations</a:t>
            </a:r>
            <a:endParaRPr lang="en-US" sz="1875" dirty="0"/>
          </a:p>
        </p:txBody>
      </p:sp>
      <p:sp>
        <p:nvSpPr>
          <p:cNvPr id="8" name="Text 4"/>
          <p:cNvSpPr/>
          <p:nvPr/>
        </p:nvSpPr>
        <p:spPr>
          <a:xfrm>
            <a:off x="7296150" y="2886075"/>
            <a:ext cx="2430661" cy="47595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Fat =
Performance Killer</a:t>
            </a:r>
            <a:endParaRPr lang="en-US" sz="1575" dirty="0"/>
          </a:p>
        </p:txBody>
      </p:sp>
      <p:sp>
        <p:nvSpPr>
          <p:cNvPr id="9" name="Text 5"/>
          <p:cNvSpPr/>
          <p:nvPr/>
        </p:nvSpPr>
        <p:spPr>
          <a:xfrm>
            <a:off x="657225" y="2181225"/>
            <a:ext cx="6960870" cy="2379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37B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Feature Distribution Patterns</a:t>
            </a:r>
            <a:endParaRPr lang="en-US" sz="1575" dirty="0"/>
          </a:p>
        </p:txBody>
      </p:sp>
      <p:sp>
        <p:nvSpPr>
          <p:cNvPr id="10" name="Text 6"/>
          <p:cNvSpPr/>
          <p:nvPr/>
        </p:nvSpPr>
        <p:spPr>
          <a:xfrm>
            <a:off x="657225" y="4352925"/>
            <a:ext cx="8401050" cy="2379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575" b="1" dirty="0">
                <a:solidFill>
                  <a:srgbClr val="37B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Strong Performance Interconnections</a:t>
            </a:r>
            <a:endParaRPr lang="en-US" sz="1575" dirty="0"/>
          </a:p>
        </p:txBody>
      </p:sp>
      <p:sp>
        <p:nvSpPr>
          <p:cNvPr id="11" name="Text 7"/>
          <p:cNvSpPr/>
          <p:nvPr/>
        </p:nvSpPr>
        <p:spPr>
          <a:xfrm>
            <a:off x="7477125" y="2400300"/>
            <a:ext cx="4572000" cy="2833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37B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Critical Finding</a:t>
            </a:r>
            <a:endParaRPr lang="en-US" sz="1875" dirty="0"/>
          </a:p>
        </p:txBody>
      </p:sp>
      <p:sp>
        <p:nvSpPr>
          <p:cNvPr id="12" name="Text 8"/>
          <p:cNvSpPr/>
          <p:nvPr/>
        </p:nvSpPr>
        <p:spPr>
          <a:xfrm>
            <a:off x="742950" y="2533650"/>
            <a:ext cx="6862763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Age distribution is right-skewed — younger participants dominate
(20-30 years)</a:t>
            </a:r>
            <a:endParaRPr lang="en-US" sz="1425" dirty="0"/>
          </a:p>
        </p:txBody>
      </p:sp>
      <p:sp>
        <p:nvSpPr>
          <p:cNvPr id="13" name="Text 9"/>
          <p:cNvSpPr/>
          <p:nvPr/>
        </p:nvSpPr>
        <p:spPr>
          <a:xfrm>
            <a:off x="742950" y="3105150"/>
            <a:ext cx="15201900" cy="21535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Flexibility shows left-skew due to participants unable to reach toes</a:t>
            </a:r>
            <a:endParaRPr lang="en-US" sz="1425" dirty="0"/>
          </a:p>
        </p:txBody>
      </p:sp>
      <p:sp>
        <p:nvSpPr>
          <p:cNvPr id="14" name="Text 10"/>
          <p:cNvSpPr/>
          <p:nvPr/>
        </p:nvSpPr>
        <p:spPr>
          <a:xfrm>
            <a:off x="742950" y="333375"/>
            <a:ext cx="2286000" cy="906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714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Exploratory Data Analysis</a:t>
            </a:r>
            <a:endParaRPr lang="en-US" sz="600" dirty="0"/>
          </a:p>
        </p:txBody>
      </p:sp>
      <p:sp>
        <p:nvSpPr>
          <p:cNvPr id="15" name="Text 11"/>
          <p:cNvSpPr/>
          <p:nvPr/>
        </p:nvSpPr>
        <p:spPr>
          <a:xfrm>
            <a:off x="742950" y="3429000"/>
            <a:ext cx="14116050" cy="21535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Most fitness metrics follow normal distributions after cleaning</a:t>
            </a:r>
            <a:endParaRPr lang="en-US" sz="1425" dirty="0"/>
          </a:p>
        </p:txBody>
      </p:sp>
      <p:sp>
        <p:nvSpPr>
          <p:cNvPr id="16" name="Text 12"/>
          <p:cNvSpPr/>
          <p:nvPr/>
        </p:nvSpPr>
        <p:spPr>
          <a:xfrm>
            <a:off x="742950" y="4695825"/>
            <a:ext cx="7051328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Grip force ↔ Broad jump: +0.65 correlation — upper and lower body
strength align</a:t>
            </a:r>
            <a:endParaRPr lang="en-US" sz="1425" dirty="0"/>
          </a:p>
        </p:txBody>
      </p:sp>
      <p:sp>
        <p:nvSpPr>
          <p:cNvPr id="17" name="Text 13"/>
          <p:cNvSpPr/>
          <p:nvPr/>
        </p:nvSpPr>
        <p:spPr>
          <a:xfrm>
            <a:off x="742950" y="5267325"/>
            <a:ext cx="6496050" cy="43070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96"/>
              </a:lnSpc>
              <a:buNone/>
            </a:pPr>
            <a:r>
              <a:rPr lang="en-US" sz="14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Sit-ups ↔ Jump distance: +0.55 correlation — core endurance
predicts explosive power</a:t>
            </a:r>
            <a:endParaRPr lang="en-US" sz="1425" dirty="0"/>
          </a:p>
        </p:txBody>
      </p:sp>
      <p:sp>
        <p:nvSpPr>
          <p:cNvPr id="18" name="Text 14"/>
          <p:cNvSpPr/>
          <p:nvPr/>
        </p:nvSpPr>
        <p:spPr>
          <a:xfrm>
            <a:off x="742950" y="5848350"/>
            <a:ext cx="15019020" cy="2040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All performance metrics cluster together as a unified fitness dimension</a:t>
            </a:r>
            <a:endParaRPr lang="en-US" sz="1350" dirty="0"/>
          </a:p>
        </p:txBody>
      </p:sp>
      <p:sp>
        <p:nvSpPr>
          <p:cNvPr id="19" name="Text 15"/>
          <p:cNvSpPr/>
          <p:nvPr/>
        </p:nvSpPr>
        <p:spPr>
          <a:xfrm>
            <a:off x="7391400" y="3609975"/>
            <a:ext cx="2504033" cy="92645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Body fat % shows strong
negative correlations:
• -0.67 with broad jump distance
• -0.61 with sit-up endurance
• -0.45 with grip strength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7391400" y="5105400"/>
            <a:ext cx="3153668" cy="294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i="1" dirty="0">
                <a:solidFill>
                  <a:srgbClr val="37B2AC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Higher body fat consistently predicts lower
performance across ALL fitness tests</a:t>
            </a:r>
            <a:endParaRPr lang="en-US" sz="975" dirty="0"/>
          </a:p>
        </p:txBody>
      </p:sp>
      <p:sp>
        <p:nvSpPr>
          <p:cNvPr id="21" name="Text 17"/>
          <p:cNvSpPr/>
          <p:nvPr/>
        </p:nvSpPr>
        <p:spPr>
          <a:xfrm>
            <a:off x="7724299" y="6467475"/>
            <a:ext cx="592074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260"/>
              </a:lnSpc>
              <a:buNone/>
            </a:pPr>
            <a:r>
              <a:rPr lang="en-US" sz="1050" dirty="0">
                <a:solidFill>
                  <a:srgbClr val="82C6CE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Next: Feature Engineering &amp; Selection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657225" y="6467475"/>
            <a:ext cx="14142720" cy="1829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13,393 participants → Data cleaning → Feature analysis → Insights revealed</a:t>
            </a:r>
            <a:endParaRPr lang="en-US" sz="1200" dirty="0"/>
          </a:p>
        </p:txBody>
      </p:sp>
    </p:spTree>
  </p:cSld>
  <p:clrMapOvr>
    <a:masterClrMapping/>
  </p:clrMapOvr>
  <p:transition spd="slow">
    <p:wipe dir="r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859" y="6460182"/>
            <a:ext cx="268188" cy="3016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5765" y="5596086"/>
            <a:ext cx="231577" cy="3429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4565" y="5369719"/>
            <a:ext cx="341263" cy="322213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565" y="4656534"/>
            <a:ext cx="341263" cy="32905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4565" y="3943350"/>
            <a:ext cx="341263" cy="322213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4565" y="3236863"/>
            <a:ext cx="341263" cy="322213"/>
          </a:xfrm>
          <a:prstGeom prst="rect">
            <a:avLst/>
          </a:prstGeom>
        </p:spPr>
      </p:pic>
      <p:sp>
        <p:nvSpPr>
          <p:cNvPr id="9" name="Text 0"/>
          <p:cNvSpPr/>
          <p:nvPr/>
        </p:nvSpPr>
        <p:spPr>
          <a:xfrm>
            <a:off x="657225" y="857250"/>
            <a:ext cx="5228183" cy="89296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515"/>
              </a:lnSpc>
              <a:buNone/>
            </a:pPr>
            <a:r>
              <a:rPr lang="en-US" sz="32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Feature Engineering
&amp; Selection</a:t>
            </a:r>
            <a:endParaRPr lang="en-US" sz="3225" dirty="0"/>
          </a:p>
        </p:txBody>
      </p:sp>
      <p:sp>
        <p:nvSpPr>
          <p:cNvPr id="10" name="Text 1"/>
          <p:cNvSpPr/>
          <p:nvPr/>
        </p:nvSpPr>
        <p:spPr>
          <a:xfrm>
            <a:off x="676275" y="1905000"/>
            <a:ext cx="14881860" cy="23797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74"/>
              </a:lnSpc>
              <a:buNone/>
            </a:pPr>
            <a:r>
              <a:rPr lang="en-US" sz="1575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Transforming raw measurements into powerful predictive signals</a:t>
            </a:r>
            <a:endParaRPr lang="en-US" sz="1575" dirty="0"/>
          </a:p>
        </p:txBody>
      </p:sp>
      <p:sp>
        <p:nvSpPr>
          <p:cNvPr id="11" name="Text 2"/>
          <p:cNvSpPr/>
          <p:nvPr/>
        </p:nvSpPr>
        <p:spPr>
          <a:xfrm>
            <a:off x="657225" y="2524125"/>
            <a:ext cx="3120390" cy="24006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We Built</a:t>
            </a:r>
            <a:endParaRPr lang="en-US" sz="1575" dirty="0"/>
          </a:p>
        </p:txBody>
      </p:sp>
      <p:sp>
        <p:nvSpPr>
          <p:cNvPr id="12" name="Text 3"/>
          <p:cNvSpPr/>
          <p:nvPr/>
        </p:nvSpPr>
        <p:spPr>
          <a:xfrm>
            <a:off x="6381750" y="2524125"/>
            <a:ext cx="4777740" cy="2515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98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What Ranked Highest</a:t>
            </a:r>
            <a:endParaRPr lang="en-US" sz="1650" dirty="0"/>
          </a:p>
        </p:txBody>
      </p:sp>
      <p:sp>
        <p:nvSpPr>
          <p:cNvPr id="13" name="Text 4"/>
          <p:cNvSpPr/>
          <p:nvPr/>
        </p:nvSpPr>
        <p:spPr>
          <a:xfrm>
            <a:off x="7058025" y="5610225"/>
            <a:ext cx="6217920" cy="18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total_fitness dominates regression</a:t>
            </a:r>
            <a:endParaRPr lang="en-US" sz="1200" dirty="0"/>
          </a:p>
        </p:txBody>
      </p:sp>
      <p:sp>
        <p:nvSpPr>
          <p:cNvPr id="14" name="Text 5"/>
          <p:cNvSpPr/>
          <p:nvPr/>
        </p:nvSpPr>
        <p:spPr>
          <a:xfrm>
            <a:off x="1295400" y="3209925"/>
            <a:ext cx="582930" cy="1765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90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BMI</a:t>
            </a:r>
            <a:endParaRPr lang="en-US" sz="1275" dirty="0"/>
          </a:p>
        </p:txBody>
      </p:sp>
      <p:sp>
        <p:nvSpPr>
          <p:cNvPr id="15" name="Text 6"/>
          <p:cNvSpPr/>
          <p:nvPr/>
        </p:nvSpPr>
        <p:spPr>
          <a:xfrm>
            <a:off x="1295400" y="3914775"/>
            <a:ext cx="2560320" cy="1660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Pulse Pressure</a:t>
            </a:r>
            <a:endParaRPr lang="en-US" sz="1200" dirty="0"/>
          </a:p>
        </p:txBody>
      </p:sp>
      <p:sp>
        <p:nvSpPr>
          <p:cNvPr id="16" name="Text 7"/>
          <p:cNvSpPr/>
          <p:nvPr/>
        </p:nvSpPr>
        <p:spPr>
          <a:xfrm>
            <a:off x="1295400" y="4629150"/>
            <a:ext cx="3474720" cy="1660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 Fitness Score</a:t>
            </a:r>
            <a:endParaRPr lang="en-US" sz="1200" dirty="0"/>
          </a:p>
        </p:txBody>
      </p:sp>
      <p:sp>
        <p:nvSpPr>
          <p:cNvPr id="17" name="Text 8"/>
          <p:cNvSpPr/>
          <p:nvPr/>
        </p:nvSpPr>
        <p:spPr>
          <a:xfrm>
            <a:off x="1295400" y="5343525"/>
            <a:ext cx="3108960" cy="1660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Interaction Terms</a:t>
            </a:r>
            <a:endParaRPr lang="en-US" sz="1200" dirty="0"/>
          </a:p>
        </p:txBody>
      </p:sp>
      <p:sp>
        <p:nvSpPr>
          <p:cNvPr id="18" name="Text 9"/>
          <p:cNvSpPr/>
          <p:nvPr/>
        </p:nvSpPr>
        <p:spPr>
          <a:xfrm>
            <a:off x="6505575" y="3228975"/>
            <a:ext cx="2880360" cy="1454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 &amp; bend forward</a:t>
            </a:r>
            <a:endParaRPr lang="en-US" sz="1050" dirty="0"/>
          </a:p>
        </p:txBody>
      </p:sp>
      <p:sp>
        <p:nvSpPr>
          <p:cNvPr id="19" name="Text 10"/>
          <p:cNvSpPr/>
          <p:nvPr/>
        </p:nvSpPr>
        <p:spPr>
          <a:xfrm>
            <a:off x="6505575" y="3552825"/>
            <a:ext cx="240030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sit-ups counts</a:t>
            </a:r>
            <a:endParaRPr lang="en-US" sz="1125" dirty="0"/>
          </a:p>
        </p:txBody>
      </p:sp>
      <p:sp>
        <p:nvSpPr>
          <p:cNvPr id="20" name="Text 11"/>
          <p:cNvSpPr/>
          <p:nvPr/>
        </p:nvSpPr>
        <p:spPr>
          <a:xfrm>
            <a:off x="6505575" y="3876675"/>
            <a:ext cx="2377440" cy="16609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08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total_fitness</a:t>
            </a:r>
            <a:endParaRPr lang="en-US" sz="1200" dirty="0"/>
          </a:p>
        </p:txBody>
      </p:sp>
      <p:sp>
        <p:nvSpPr>
          <p:cNvPr id="21" name="Text 12"/>
          <p:cNvSpPr/>
          <p:nvPr/>
        </p:nvSpPr>
        <p:spPr>
          <a:xfrm>
            <a:off x="6505575" y="4210050"/>
            <a:ext cx="154305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gripForce</a:t>
            </a:r>
            <a:endParaRPr lang="en-US" sz="1125" dirty="0"/>
          </a:p>
        </p:txBody>
      </p:sp>
      <p:sp>
        <p:nvSpPr>
          <p:cNvPr id="22" name="Text 13"/>
          <p:cNvSpPr/>
          <p:nvPr/>
        </p:nvSpPr>
        <p:spPr>
          <a:xfrm>
            <a:off x="6505575" y="4657725"/>
            <a:ext cx="222885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total_fitness</a:t>
            </a:r>
            <a:endParaRPr lang="en-US" sz="1125" dirty="0"/>
          </a:p>
        </p:txBody>
      </p:sp>
      <p:sp>
        <p:nvSpPr>
          <p:cNvPr id="23" name="Text 14"/>
          <p:cNvSpPr/>
          <p:nvPr/>
        </p:nvSpPr>
        <p:spPr>
          <a:xfrm>
            <a:off x="6505575" y="4981575"/>
            <a:ext cx="3200400" cy="1454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jump_age_interaction</a:t>
            </a:r>
            <a:endParaRPr lang="en-US" sz="1050" dirty="0"/>
          </a:p>
        </p:txBody>
      </p:sp>
      <p:sp>
        <p:nvSpPr>
          <p:cNvPr id="24" name="Text 15"/>
          <p:cNvSpPr/>
          <p:nvPr/>
        </p:nvSpPr>
        <p:spPr>
          <a:xfrm>
            <a:off x="7058025" y="5848350"/>
            <a:ext cx="11292840" cy="13498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063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94.3% of Decision Tree feature importance assigned to this single variable</a:t>
            </a:r>
            <a:endParaRPr lang="en-US" sz="975" dirty="0"/>
          </a:p>
        </p:txBody>
      </p:sp>
      <p:sp>
        <p:nvSpPr>
          <p:cNvPr id="25" name="Text 16"/>
          <p:cNvSpPr/>
          <p:nvPr/>
        </p:nvSpPr>
        <p:spPr>
          <a:xfrm>
            <a:off x="657225" y="2809875"/>
            <a:ext cx="3360420" cy="14540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45"/>
              </a:lnSpc>
              <a:buNone/>
            </a:pPr>
            <a:r>
              <a:rPr lang="en-US" sz="1050" b="1" dirty="0">
                <a:solidFill>
                  <a:srgbClr val="56F0E8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• ENGINEERED FEATURES</a:t>
            </a:r>
            <a:endParaRPr lang="en-US" sz="1050" dirty="0"/>
          </a:p>
        </p:txBody>
      </p:sp>
      <p:sp>
        <p:nvSpPr>
          <p:cNvPr id="26" name="Text 17"/>
          <p:cNvSpPr/>
          <p:nvPr/>
        </p:nvSpPr>
        <p:spPr>
          <a:xfrm>
            <a:off x="6381750" y="2809875"/>
            <a:ext cx="617220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56F0E8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• TOP FEATURES BY MUTUAL INFORMATION</a:t>
            </a:r>
            <a:endParaRPr lang="en-US" sz="1125" dirty="0"/>
          </a:p>
        </p:txBody>
      </p:sp>
      <p:sp>
        <p:nvSpPr>
          <p:cNvPr id="27" name="Text 18"/>
          <p:cNvSpPr/>
          <p:nvPr/>
        </p:nvSpPr>
        <p:spPr>
          <a:xfrm>
            <a:off x="657225" y="6486525"/>
            <a:ext cx="371475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FFFFFF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9 engineered features</a:t>
            </a:r>
            <a:endParaRPr lang="en-US" sz="1125" dirty="0"/>
          </a:p>
        </p:txBody>
      </p:sp>
      <p:sp>
        <p:nvSpPr>
          <p:cNvPr id="28" name="Text 19"/>
          <p:cNvSpPr/>
          <p:nvPr/>
        </p:nvSpPr>
        <p:spPr>
          <a:xfrm>
            <a:off x="657225" y="609600"/>
            <a:ext cx="440055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b="1" dirty="0">
                <a:solidFill>
                  <a:srgbClr val="56F0E8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PART 1 - DATA PREPARATION</a:t>
            </a:r>
            <a:endParaRPr lang="en-US" sz="1125" dirty="0"/>
          </a:p>
        </p:txBody>
      </p:sp>
      <p:sp>
        <p:nvSpPr>
          <p:cNvPr id="29" name="Text 20"/>
          <p:cNvSpPr/>
          <p:nvPr/>
        </p:nvSpPr>
        <p:spPr>
          <a:xfrm>
            <a:off x="3095625" y="6486525"/>
            <a:ext cx="1080135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Flexibility &amp; core endurance = strongest classification signals</a:t>
            </a:r>
            <a:endParaRPr lang="en-US" sz="1125" dirty="0"/>
          </a:p>
        </p:txBody>
      </p:sp>
      <p:sp>
        <p:nvSpPr>
          <p:cNvPr id="30" name="Text 21"/>
          <p:cNvSpPr/>
          <p:nvPr/>
        </p:nvSpPr>
        <p:spPr>
          <a:xfrm>
            <a:off x="7867650" y="6486525"/>
            <a:ext cx="8743950" cy="15567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26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Total fitness score = dominant regression predictor</a:t>
            </a:r>
            <a:endParaRPr lang="en-US" sz="1125" dirty="0"/>
          </a:p>
        </p:txBody>
      </p:sp>
      <p:sp>
        <p:nvSpPr>
          <p:cNvPr id="31" name="Text 22"/>
          <p:cNvSpPr/>
          <p:nvPr/>
        </p:nvSpPr>
        <p:spPr>
          <a:xfrm>
            <a:off x="657225" y="5953125"/>
            <a:ext cx="792480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+ Log.p transformation applied to 12 skewed features</a:t>
            </a:r>
            <a:endParaRPr lang="en-US" sz="975" dirty="0"/>
          </a:p>
        </p:txBody>
      </p:sp>
      <p:sp>
        <p:nvSpPr>
          <p:cNvPr id="32" name="Text 23"/>
          <p:cNvSpPr/>
          <p:nvPr/>
        </p:nvSpPr>
        <p:spPr>
          <a:xfrm>
            <a:off x="6505575" y="3038475"/>
            <a:ext cx="3101280" cy="15865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FOR CLASSIFICATION</a:t>
            </a:r>
            <a:endParaRPr lang="en-US" sz="1050" dirty="0"/>
          </a:p>
        </p:txBody>
      </p:sp>
      <p:sp>
        <p:nvSpPr>
          <p:cNvPr id="33" name="Text 24"/>
          <p:cNvSpPr/>
          <p:nvPr/>
        </p:nvSpPr>
        <p:spPr>
          <a:xfrm>
            <a:off x="6505575" y="4410075"/>
            <a:ext cx="2986088" cy="15865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50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FOR REGRESSION</a:t>
            </a:r>
            <a:endParaRPr lang="en-US" sz="1050" dirty="0"/>
          </a:p>
        </p:txBody>
      </p:sp>
      <p:sp>
        <p:nvSpPr>
          <p:cNvPr id="34" name="Text 25"/>
          <p:cNvSpPr/>
          <p:nvPr/>
        </p:nvSpPr>
        <p:spPr>
          <a:xfrm>
            <a:off x="1295400" y="3438525"/>
            <a:ext cx="1025271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Weight normalized by height squared — standard body composition index</a:t>
            </a:r>
            <a:endParaRPr lang="en-US" sz="975" dirty="0"/>
          </a:p>
        </p:txBody>
      </p:sp>
      <p:sp>
        <p:nvSpPr>
          <p:cNvPr id="35" name="Text 26"/>
          <p:cNvSpPr/>
          <p:nvPr/>
        </p:nvSpPr>
        <p:spPr>
          <a:xfrm>
            <a:off x="1295400" y="4162425"/>
            <a:ext cx="817245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Systolic minus diastolic — cardiovascular health signal</a:t>
            </a:r>
            <a:endParaRPr lang="en-US" sz="975" dirty="0"/>
          </a:p>
        </p:txBody>
      </p:sp>
      <p:sp>
        <p:nvSpPr>
          <p:cNvPr id="36" name="Text 27"/>
          <p:cNvSpPr/>
          <p:nvPr/>
        </p:nvSpPr>
        <p:spPr>
          <a:xfrm>
            <a:off x="1295400" y="4867275"/>
            <a:ext cx="990600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Mean of 5 performance columns — the single most powerful predictor</a:t>
            </a:r>
            <a:endParaRPr lang="en-US" sz="975" dirty="0"/>
          </a:p>
        </p:txBody>
      </p:sp>
      <p:sp>
        <p:nvSpPr>
          <p:cNvPr id="37" name="Text 28"/>
          <p:cNvSpPr/>
          <p:nvPr/>
        </p:nvSpPr>
        <p:spPr>
          <a:xfrm>
            <a:off x="1295400" y="5591175"/>
            <a:ext cx="950976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Grip × Age, Jump × Age — capturing performance decline over time</a:t>
            </a:r>
            <a:endParaRPr lang="en-US" sz="975" dirty="0"/>
          </a:p>
        </p:txBody>
      </p:sp>
      <p:sp>
        <p:nvSpPr>
          <p:cNvPr id="38" name="Text 29"/>
          <p:cNvSpPr/>
          <p:nvPr/>
        </p:nvSpPr>
        <p:spPr>
          <a:xfrm>
            <a:off x="114300" y="95250"/>
            <a:ext cx="495300" cy="1473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60"/>
              </a:lnSpc>
              <a:buNone/>
            </a:pPr>
            <a:r>
              <a:rPr lang="en-US" sz="975" b="1" dirty="0">
                <a:solidFill>
                  <a:srgbClr val="56F0E8"/>
                </a:solidFill>
                <a:latin typeface="Roboto-BoldItalic" pitchFamily="34" charset="0"/>
                <a:ea typeface="Roboto-BoldItalic" pitchFamily="34" charset="-122"/>
                <a:cs typeface="Roboto-BoldItalic" pitchFamily="34" charset="-120"/>
              </a:rPr>
              <a:t>05</a:t>
            </a:r>
            <a:endParaRPr lang="en-US" sz="975" dirty="0"/>
          </a:p>
        </p:txBody>
      </p:sp>
      <p:sp>
        <p:nvSpPr>
          <p:cNvPr id="39" name="Text 30"/>
          <p:cNvSpPr/>
          <p:nvPr/>
        </p:nvSpPr>
        <p:spPr>
          <a:xfrm>
            <a:off x="657225" y="123825"/>
            <a:ext cx="487680" cy="9063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714"/>
              </a:lnSpc>
              <a:buNone/>
            </a:pPr>
            <a:r>
              <a:rPr lang="en-US" sz="600" dirty="0">
                <a:solidFill>
                  <a:srgbClr val="56F0E8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/ 10</a:t>
            </a:r>
            <a:endParaRPr lang="en-US" sz="600" dirty="0"/>
          </a:p>
        </p:txBody>
      </p:sp>
    </p:spTree>
  </p:cSld>
  <p:clrMapOvr>
    <a:masterClrMapping/>
  </p:clrMapOvr>
  <p:transition spd="med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4800" y="1735038"/>
            <a:ext cx="3864769" cy="3223171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655" y="1913334"/>
            <a:ext cx="6973788" cy="335354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771525" y="666750"/>
            <a:ext cx="18928080" cy="56524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4451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Machine Learning Classification Task</a:t>
            </a:r>
            <a:endParaRPr lang="en-US" sz="3450" dirty="0"/>
          </a:p>
        </p:txBody>
      </p:sp>
      <p:sp>
        <p:nvSpPr>
          <p:cNvPr id="6" name="Text 1"/>
          <p:cNvSpPr/>
          <p:nvPr/>
        </p:nvSpPr>
        <p:spPr>
          <a:xfrm>
            <a:off x="771525" y="1314450"/>
            <a:ext cx="14916150" cy="33426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632"/>
              </a:lnSpc>
              <a:buNone/>
            </a:pPr>
            <a:r>
              <a:rPr lang="en-US" sz="21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Categorizing Fitness Performance Levels A → D</a:t>
            </a:r>
            <a:endParaRPr lang="en-US" sz="2175" dirty="0"/>
          </a:p>
        </p:txBody>
      </p:sp>
      <p:sp>
        <p:nvSpPr>
          <p:cNvPr id="7" name="Text 2"/>
          <p:cNvSpPr/>
          <p:nvPr/>
        </p:nvSpPr>
        <p:spPr>
          <a:xfrm>
            <a:off x="857250" y="5505450"/>
            <a:ext cx="11860411" cy="5667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31"/>
              </a:lnSpc>
              <a:buNone/>
            </a:pPr>
            <a:r>
              <a:rPr lang="en-US" sz="18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Neural Networks excel at learning complex non-linear patterns in fitness data, achieving 10+
percentage point improvement over baseline models</a:t>
            </a:r>
            <a:endParaRPr lang="en-US" sz="1875" dirty="0"/>
          </a:p>
        </p:txBody>
      </p:sp>
      <p:sp>
        <p:nvSpPr>
          <p:cNvPr id="8" name="Text 3"/>
          <p:cNvSpPr/>
          <p:nvPr/>
        </p:nvSpPr>
        <p:spPr>
          <a:xfrm>
            <a:off x="857250" y="6153150"/>
            <a:ext cx="21183600" cy="2628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7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The B↔C boundary remains challenging across all models due to overlapping biometric profiles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323850" y="219075"/>
            <a:ext cx="762000" cy="2266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85"/>
              </a:lnSpc>
              <a:buNone/>
            </a:pPr>
            <a:r>
              <a:rPr lang="en-US" sz="1500" b="1" dirty="0">
                <a:solidFill>
                  <a:srgbClr val="31E0C9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06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11477625" y="285750"/>
            <a:ext cx="960120" cy="1720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4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6/10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9840248" y="6619875"/>
            <a:ext cx="2240280" cy="1720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354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Page 6 of 10</a:t>
            </a:r>
            <a:endParaRPr lang="en-US" sz="1050" dirty="0"/>
          </a:p>
        </p:txBody>
      </p:sp>
    </p:spTree>
  </p:cSld>
  <p:clrMapOvr>
    <a:masterClrMapping/>
  </p:clrMapOvr>
  <p:transition spd="slow"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4894" y="2653903"/>
            <a:ext cx="1926282" cy="2825353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" y="2647057"/>
            <a:ext cx="5839867" cy="27432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225" y="5715000"/>
            <a:ext cx="7910512" cy="480120"/>
          </a:xfrm>
          <a:prstGeom prst="rect">
            <a:avLst/>
          </a:prstGeom>
        </p:spPr>
      </p:pic>
      <p:sp>
        <p:nvSpPr>
          <p:cNvPr id="6" name="Text 0"/>
          <p:cNvSpPr/>
          <p:nvPr/>
        </p:nvSpPr>
        <p:spPr>
          <a:xfrm>
            <a:off x="4443293" y="2800350"/>
            <a:ext cx="7536180" cy="5258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414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R² = 0.9684</a:t>
            </a:r>
            <a:endParaRPr lang="en-US" sz="3450" dirty="0"/>
          </a:p>
        </p:txBody>
      </p:sp>
      <p:sp>
        <p:nvSpPr>
          <p:cNvPr id="7" name="Text 1"/>
          <p:cNvSpPr/>
          <p:nvPr/>
        </p:nvSpPr>
        <p:spPr>
          <a:xfrm>
            <a:off x="657225" y="809625"/>
            <a:ext cx="146304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-Black" pitchFamily="34" charset="0"/>
                <a:ea typeface="Arial-Black" pitchFamily="34" charset="-122"/>
                <a:cs typeface="Arial-Black" pitchFamily="34" charset="-120"/>
              </a:rPr>
              <a:t>Machine Learning Regression Task</a:t>
            </a:r>
            <a:endParaRPr lang="en-US" sz="3000" dirty="0"/>
          </a:p>
        </p:txBody>
      </p:sp>
      <p:sp>
        <p:nvSpPr>
          <p:cNvPr id="8" name="Text 2"/>
          <p:cNvSpPr/>
          <p:nvPr/>
        </p:nvSpPr>
        <p:spPr>
          <a:xfrm>
            <a:off x="657225" y="1457325"/>
            <a:ext cx="16036290" cy="2628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070"/>
              </a:lnSpc>
              <a:buNone/>
            </a:pPr>
            <a:r>
              <a:rPr lang="en-US" sz="1725" b="1" dirty="0">
                <a:solidFill>
                  <a:srgbClr val="87CEFA"/>
                </a:solidFill>
                <a:latin typeface="OpenSans-Bold" pitchFamily="34" charset="0"/>
                <a:ea typeface="OpenSans-Bold" pitchFamily="34" charset="-122"/>
                <a:cs typeface="OpenSans-Bold" pitchFamily="34" charset="-120"/>
              </a:rPr>
              <a:t>Predicting Broad Jump Distance — Model Performance Comparison</a:t>
            </a:r>
            <a:endParaRPr lang="en-US" sz="1725" dirty="0"/>
          </a:p>
        </p:txBody>
      </p:sp>
      <p:sp>
        <p:nvSpPr>
          <p:cNvPr id="9" name="Text 3"/>
          <p:cNvSpPr/>
          <p:nvPr/>
        </p:nvSpPr>
        <p:spPr>
          <a:xfrm>
            <a:off x="657225" y="5715000"/>
            <a:ext cx="7910512" cy="4801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575" b="1" dirty="0">
                <a:solidFill>
                  <a:srgbClr val="000000">
                    <a:alpha val="0"/>
                  </a:srgbClr>
                </a:solidFill>
                <a:latin typeface="Merriweather-Bold" pitchFamily="34" charset="0"/>
                <a:ea typeface="Merriweather-Bold" pitchFamily="34" charset="-122"/>
                <a:cs typeface="Merriweather-Bold" pitchFamily="34" charset="-120"/>
              </a:rPr>
              <a:t>The Decision Tree achieved near-perfect predictions with only
6.98cm average error – exceptional precision for biometric data</a:t>
            </a:r>
            <a:endParaRPr lang="en-US" sz="1575" dirty="0"/>
          </a:p>
        </p:txBody>
      </p:sp>
      <p:sp>
        <p:nvSpPr>
          <p:cNvPr id="10" name="Text 4"/>
          <p:cNvSpPr/>
          <p:nvPr/>
        </p:nvSpPr>
        <p:spPr>
          <a:xfrm>
            <a:off x="5470178" y="2181225"/>
            <a:ext cx="6572250" cy="2857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87CEF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DECISION TREE DOMINANCE</a:t>
            </a:r>
            <a:endParaRPr lang="en-US" sz="1875" dirty="0"/>
          </a:p>
        </p:txBody>
      </p:sp>
      <p:sp>
        <p:nvSpPr>
          <p:cNvPr id="11" name="Text 5"/>
          <p:cNvSpPr/>
          <p:nvPr/>
        </p:nvSpPr>
        <p:spPr>
          <a:xfrm>
            <a:off x="657225" y="2181225"/>
            <a:ext cx="7143750" cy="2857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75" b="1" dirty="0">
                <a:solidFill>
                  <a:srgbClr val="87CEF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MODEL PERFORMANCE RESULTS</a:t>
            </a:r>
            <a:endParaRPr lang="en-US" sz="1875" dirty="0"/>
          </a:p>
        </p:txBody>
      </p:sp>
      <p:sp>
        <p:nvSpPr>
          <p:cNvPr id="12" name="Text 6"/>
          <p:cNvSpPr/>
          <p:nvPr/>
        </p:nvSpPr>
        <p:spPr>
          <a:xfrm>
            <a:off x="8763000" y="3657600"/>
            <a:ext cx="7200900" cy="3000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Explains 96.8% of variance</a:t>
            </a:r>
            <a:endParaRPr lang="en-US" sz="1575" dirty="0"/>
          </a:p>
        </p:txBody>
      </p:sp>
      <p:sp>
        <p:nvSpPr>
          <p:cNvPr id="13" name="Text 7"/>
          <p:cNvSpPr/>
          <p:nvPr/>
        </p:nvSpPr>
        <p:spPr>
          <a:xfrm>
            <a:off x="8763000" y="4076700"/>
            <a:ext cx="6160770" cy="30003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157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Average error: just 7cm</a:t>
            </a:r>
            <a:endParaRPr lang="en-US" sz="1575" dirty="0"/>
          </a:p>
        </p:txBody>
      </p:sp>
      <p:sp>
        <p:nvSpPr>
          <p:cNvPr id="14" name="Text 8"/>
          <p:cNvSpPr/>
          <p:nvPr/>
        </p:nvSpPr>
        <p:spPr>
          <a:xfrm>
            <a:off x="8763000" y="4495800"/>
            <a:ext cx="3206055" cy="6134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415"/>
              </a:lnSpc>
              <a:buNone/>
            </a:pPr>
            <a:r>
              <a:rPr lang="en-US" sz="17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</a:t>
            </a:r>
            <a:r>
              <a:rPr lang="en-US" sz="1725" b="1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total_fitness_1</a:t>
            </a:r>
            <a:r>
              <a:rPr lang="en-US" sz="1725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 feature
drives 94.3% of decisions</a:t>
            </a:r>
            <a:endParaRPr lang="en-US" sz="1725" dirty="0"/>
          </a:p>
        </p:txBody>
      </p:sp>
      <p:sp>
        <p:nvSpPr>
          <p:cNvPr id="15" name="Text 9"/>
          <p:cNvSpPr/>
          <p:nvPr/>
        </p:nvSpPr>
        <p:spPr>
          <a:xfrm>
            <a:off x="8763000" y="5200650"/>
            <a:ext cx="3227040" cy="58668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lnSpc>
                <a:spcPts val="231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Roboto-Regular" pitchFamily="34" charset="0"/>
                <a:ea typeface="Roboto-Regular" pitchFamily="34" charset="-122"/>
                <a:cs typeface="Roboto-Regular" pitchFamily="34" charset="-120"/>
              </a:rPr>
              <a:t>• Stable across all train-test
splits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-376282" y="190500"/>
            <a:ext cx="2099310" cy="2095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buNone/>
            </a:pPr>
            <a:r>
              <a:rPr lang="en-US" sz="1425" b="1" dirty="0">
                <a:solidFill>
                  <a:srgbClr val="A0E0FF"/>
                </a:solidFill>
                <a:latin typeface="Din Pro" pitchFamily="34" charset="0"/>
                <a:ea typeface="Din Pro" pitchFamily="34" charset="-122"/>
                <a:cs typeface="Din Pro" pitchFamily="34" charset="-120"/>
              </a:rPr>
              <a:t>07 / 10</a:t>
            </a:r>
            <a:endParaRPr lang="en-US" sz="1425" dirty="0"/>
          </a:p>
        </p:txBody>
      </p:sp>
      <p:sp>
        <p:nvSpPr>
          <p:cNvPr id="17" name="Text 11"/>
          <p:cNvSpPr/>
          <p:nvPr/>
        </p:nvSpPr>
        <p:spPr>
          <a:xfrm>
            <a:off x="771525" y="5467350"/>
            <a:ext cx="3429000" cy="2286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87CEF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Key Insight Box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4957673" y="6019800"/>
            <a:ext cx="7147560" cy="18097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87CEFA"/>
                </a:solidFill>
                <a:latin typeface="Roboto Mono" pitchFamily="34" charset="0"/>
                <a:ea typeface="Roboto Mono" pitchFamily="34" charset="-122"/>
                <a:cs typeface="Roboto Mono" pitchFamily="34" charset="-120"/>
              </a:rPr>
              <a:t>Cross-validation: R² = 0.9676 ± 0.0014</a:t>
            </a:r>
            <a:endParaRPr lang="en-US" sz="1050" dirty="0"/>
          </a:p>
        </p:txBody>
      </p:sp>
    </p:spTree>
  </p:cSld>
  <p:clrMapOvr>
    <a:masterClrMapping/>
  </p:clrMapOvr>
  <p:transition spd="med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4259" y="4821138"/>
            <a:ext cx="365671" cy="356592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859" y="1995636"/>
            <a:ext cx="255984" cy="23991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76157" y="1741884"/>
            <a:ext cx="134094" cy="14391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7977" y="3188940"/>
            <a:ext cx="755898" cy="569119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31169" y="4841677"/>
            <a:ext cx="353467" cy="335905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40769" y="2578596"/>
            <a:ext cx="3182094" cy="146074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286" y="1995636"/>
            <a:ext cx="243780" cy="239911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8973" y="1741884"/>
            <a:ext cx="158353" cy="150763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590550" y="600075"/>
            <a:ext cx="14916150" cy="45005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544"/>
              </a:lnSpc>
              <a:buNone/>
            </a:pPr>
            <a:r>
              <a:rPr lang="en-US" sz="33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Model Evaluation &amp; Comparison</a:t>
            </a:r>
            <a:endParaRPr lang="en-US" sz="3375" dirty="0"/>
          </a:p>
        </p:txBody>
      </p:sp>
      <p:sp>
        <p:nvSpPr>
          <p:cNvPr id="12" name="Text 1"/>
          <p:cNvSpPr/>
          <p:nvPr/>
        </p:nvSpPr>
        <p:spPr>
          <a:xfrm>
            <a:off x="2167890" y="5021406"/>
            <a:ext cx="1760220" cy="13852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990"/>
              </a:lnSpc>
              <a:buNone/>
            </a:pPr>
            <a:r>
              <a:rPr lang="en-US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Neural Network</a:t>
            </a:r>
            <a:endParaRPr lang="en-US" dirty="0">
              <a:ln>
                <a:solidFill>
                  <a:schemeClr val="accent5">
                    <a:lumMod val="50000"/>
                  </a:schemeClr>
                </a:solidFill>
              </a:ln>
              <a:solidFill>
                <a:schemeClr val="tx2">
                  <a:lumMod val="20000"/>
                  <a:lumOff val="80000"/>
                </a:schemeClr>
              </a:solidFill>
              <a:effectLst>
                <a:glow rad="63500">
                  <a:schemeClr val="accent3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13" name="Text 2"/>
          <p:cNvSpPr/>
          <p:nvPr/>
        </p:nvSpPr>
        <p:spPr>
          <a:xfrm>
            <a:off x="8136400" y="4987674"/>
            <a:ext cx="1647825" cy="24958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>
              <a:lnSpc>
                <a:spcPts val="990"/>
              </a:lnSpc>
            </a:pPr>
            <a:r>
              <a:rPr lang="en-US" b="1" dirty="0">
                <a:ln>
                  <a:solidFill>
                    <a:schemeClr val="accent5">
                      <a:lumMod val="50000"/>
                    </a:schemeClr>
                  </a:solidFill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  <a:latin typeface="Plus Jakarta Sans" pitchFamily="34" charset="0"/>
                <a:ea typeface="Plus Jakarta Sans" pitchFamily="34" charset="-122"/>
              </a:rPr>
              <a:t>Decision Tree</a:t>
            </a:r>
          </a:p>
        </p:txBody>
      </p:sp>
      <p:sp>
        <p:nvSpPr>
          <p:cNvPr id="14" name="Text 3"/>
          <p:cNvSpPr/>
          <p:nvPr/>
        </p:nvSpPr>
        <p:spPr>
          <a:xfrm>
            <a:off x="590550" y="1209675"/>
            <a:ext cx="17716500" cy="2857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250"/>
              </a:lnSpc>
              <a:buNone/>
            </a:pPr>
            <a:r>
              <a:rPr lang="en-US" sz="1875" dirty="0">
                <a:solidFill>
                  <a:srgbClr val="81D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Which model wins — and why it stays winning across every split</a:t>
            </a:r>
            <a:endParaRPr lang="en-US" sz="1875" dirty="0"/>
          </a:p>
        </p:txBody>
      </p:sp>
      <p:sp>
        <p:nvSpPr>
          <p:cNvPr id="15" name="Text 4"/>
          <p:cNvSpPr/>
          <p:nvPr/>
        </p:nvSpPr>
        <p:spPr>
          <a:xfrm>
            <a:off x="962025" y="1962150"/>
            <a:ext cx="4320540" cy="2040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Classification Models</a:t>
            </a:r>
            <a:endParaRPr lang="en-US" sz="1350" dirty="0"/>
          </a:p>
        </p:txBody>
      </p:sp>
      <p:sp>
        <p:nvSpPr>
          <p:cNvPr id="16" name="Text 5"/>
          <p:cNvSpPr/>
          <p:nvPr/>
        </p:nvSpPr>
        <p:spPr>
          <a:xfrm>
            <a:off x="7058025" y="1962150"/>
            <a:ext cx="3303270" cy="1927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17"/>
              </a:lnSpc>
              <a:buNone/>
            </a:pPr>
            <a:r>
              <a:rPr lang="en-US" sz="12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Regression Models</a:t>
            </a:r>
            <a:endParaRPr lang="en-US" sz="1275" dirty="0"/>
          </a:p>
        </p:txBody>
      </p:sp>
      <p:sp>
        <p:nvSpPr>
          <p:cNvPr id="17" name="Text 6"/>
          <p:cNvSpPr/>
          <p:nvPr/>
        </p:nvSpPr>
        <p:spPr>
          <a:xfrm>
            <a:off x="771525" y="2638425"/>
            <a:ext cx="330708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KNN (k=25, PCA=18)</a:t>
            </a:r>
            <a:endParaRPr lang="en-US" sz="1050" dirty="0"/>
          </a:p>
        </p:txBody>
      </p:sp>
      <p:sp>
        <p:nvSpPr>
          <p:cNvPr id="18" name="Text 7"/>
          <p:cNvSpPr/>
          <p:nvPr/>
        </p:nvSpPr>
        <p:spPr>
          <a:xfrm>
            <a:off x="771525" y="2962275"/>
            <a:ext cx="32004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SVM — Linear (C=1)</a:t>
            </a:r>
            <a:endParaRPr lang="en-US" sz="1125" dirty="0"/>
          </a:p>
        </p:txBody>
      </p:sp>
      <p:sp>
        <p:nvSpPr>
          <p:cNvPr id="19" name="Text 8"/>
          <p:cNvSpPr/>
          <p:nvPr/>
        </p:nvSpPr>
        <p:spPr>
          <a:xfrm>
            <a:off x="771525" y="3305175"/>
            <a:ext cx="3169920" cy="1829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SVM — RBF (C=10)</a:t>
            </a:r>
            <a:endParaRPr lang="en-US" sz="1200" dirty="0"/>
          </a:p>
        </p:txBody>
      </p:sp>
      <p:sp>
        <p:nvSpPr>
          <p:cNvPr id="20" name="Text 9"/>
          <p:cNvSpPr/>
          <p:nvPr/>
        </p:nvSpPr>
        <p:spPr>
          <a:xfrm>
            <a:off x="657225" y="3648075"/>
            <a:ext cx="371475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Neural Network (2 HL)</a:t>
            </a:r>
            <a:endParaRPr lang="en-US" sz="1125" dirty="0"/>
          </a:p>
        </p:txBody>
      </p:sp>
      <p:sp>
        <p:nvSpPr>
          <p:cNvPr id="21" name="Text 10"/>
          <p:cNvSpPr/>
          <p:nvPr/>
        </p:nvSpPr>
        <p:spPr>
          <a:xfrm>
            <a:off x="10215563" y="2672308"/>
            <a:ext cx="186690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R² ~0.720</a:t>
            </a:r>
            <a:endParaRPr lang="en-US" sz="1200" dirty="0"/>
          </a:p>
        </p:txBody>
      </p:sp>
      <p:sp>
        <p:nvSpPr>
          <p:cNvPr id="22" name="Text 11"/>
          <p:cNvSpPr/>
          <p:nvPr/>
        </p:nvSpPr>
        <p:spPr>
          <a:xfrm>
            <a:off x="10479119" y="3041898"/>
            <a:ext cx="2255520" cy="1829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R² 0.7848</a:t>
            </a:r>
            <a:endParaRPr lang="en-US" sz="1200" dirty="0"/>
          </a:p>
        </p:txBody>
      </p:sp>
      <p:sp>
        <p:nvSpPr>
          <p:cNvPr id="23" name="Text 12"/>
          <p:cNvSpPr/>
          <p:nvPr/>
        </p:nvSpPr>
        <p:spPr>
          <a:xfrm>
            <a:off x="10550843" y="3357587"/>
            <a:ext cx="2255520" cy="1829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R² 0.7910</a:t>
            </a:r>
            <a:endParaRPr lang="en-US" sz="1200" dirty="0"/>
          </a:p>
        </p:txBody>
      </p:sp>
      <p:sp>
        <p:nvSpPr>
          <p:cNvPr id="24" name="Text 13"/>
          <p:cNvSpPr/>
          <p:nvPr/>
        </p:nvSpPr>
        <p:spPr>
          <a:xfrm>
            <a:off x="10791954" y="3720725"/>
            <a:ext cx="742821" cy="16289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R² ~0.940</a:t>
            </a:r>
            <a:endParaRPr lang="en-US" sz="1200" dirty="0"/>
          </a:p>
        </p:txBody>
      </p:sp>
      <p:sp>
        <p:nvSpPr>
          <p:cNvPr id="25" name="Text 14"/>
          <p:cNvSpPr/>
          <p:nvPr/>
        </p:nvSpPr>
        <p:spPr>
          <a:xfrm>
            <a:off x="10163175" y="3981450"/>
            <a:ext cx="2255520" cy="18291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4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R² 0.9684</a:t>
            </a:r>
            <a:endParaRPr lang="en-US" sz="1200" dirty="0"/>
          </a:p>
        </p:txBody>
      </p:sp>
      <p:sp>
        <p:nvSpPr>
          <p:cNvPr id="26" name="Text 15"/>
          <p:cNvSpPr/>
          <p:nvPr/>
        </p:nvSpPr>
        <p:spPr>
          <a:xfrm>
            <a:off x="7058025" y="2619375"/>
            <a:ext cx="291465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Linear Regression</a:t>
            </a:r>
            <a:endParaRPr lang="en-US" sz="1125" dirty="0"/>
          </a:p>
        </p:txBody>
      </p:sp>
      <p:sp>
        <p:nvSpPr>
          <p:cNvPr id="27" name="Text 16"/>
          <p:cNvSpPr/>
          <p:nvPr/>
        </p:nvSpPr>
        <p:spPr>
          <a:xfrm>
            <a:off x="6810375" y="2962275"/>
            <a:ext cx="34290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Neural Network (MLP)</a:t>
            </a:r>
            <a:endParaRPr lang="en-US" sz="1125" dirty="0"/>
          </a:p>
        </p:txBody>
      </p:sp>
      <p:sp>
        <p:nvSpPr>
          <p:cNvPr id="28" name="Text 17"/>
          <p:cNvSpPr/>
          <p:nvPr/>
        </p:nvSpPr>
        <p:spPr>
          <a:xfrm>
            <a:off x="6810375" y="3305175"/>
            <a:ext cx="330708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KNN Regression (k=7)</a:t>
            </a:r>
            <a:endParaRPr lang="en-US" sz="1050" dirty="0"/>
          </a:p>
        </p:txBody>
      </p:sp>
      <p:sp>
        <p:nvSpPr>
          <p:cNvPr id="29" name="Text 18"/>
          <p:cNvSpPr/>
          <p:nvPr/>
        </p:nvSpPr>
        <p:spPr>
          <a:xfrm>
            <a:off x="7058025" y="3648075"/>
            <a:ext cx="27432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SVR — RBF Kernel</a:t>
            </a:r>
            <a:endParaRPr lang="en-US" sz="1125" dirty="0"/>
          </a:p>
        </p:txBody>
      </p:sp>
      <p:sp>
        <p:nvSpPr>
          <p:cNvPr id="30" name="Text 19"/>
          <p:cNvSpPr/>
          <p:nvPr/>
        </p:nvSpPr>
        <p:spPr>
          <a:xfrm>
            <a:off x="6867525" y="3990975"/>
            <a:ext cx="341376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Decision Tree (d=19)</a:t>
            </a:r>
            <a:endParaRPr lang="en-US" sz="1050" dirty="0"/>
          </a:p>
        </p:txBody>
      </p:sp>
      <p:sp>
        <p:nvSpPr>
          <p:cNvPr id="31" name="Text 20"/>
          <p:cNvSpPr/>
          <p:nvPr/>
        </p:nvSpPr>
        <p:spPr>
          <a:xfrm>
            <a:off x="1200150" y="276225"/>
            <a:ext cx="5791200" cy="18142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428"/>
              </a:lnSpc>
              <a:buNone/>
            </a:pPr>
            <a:r>
              <a:rPr lang="en-US" sz="1200" dirty="0">
                <a:solidFill>
                  <a:srgbClr val="81D4FA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PART 3 — PERFORMANCE EVALUATION</a:t>
            </a:r>
            <a:endParaRPr lang="en-US" sz="1200" dirty="0"/>
          </a:p>
        </p:txBody>
      </p:sp>
      <p:sp>
        <p:nvSpPr>
          <p:cNvPr id="32" name="Text 21"/>
          <p:cNvSpPr/>
          <p:nvPr/>
        </p:nvSpPr>
        <p:spPr>
          <a:xfrm>
            <a:off x="2181225" y="4762500"/>
            <a:ext cx="2228850" cy="16103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8"/>
              </a:lnSpc>
              <a:buNone/>
            </a:pPr>
            <a:r>
              <a:rPr lang="en-US" sz="975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Classifier</a:t>
            </a:r>
            <a:endParaRPr lang="en-US" sz="975" dirty="0"/>
          </a:p>
        </p:txBody>
      </p:sp>
      <p:sp>
        <p:nvSpPr>
          <p:cNvPr id="33" name="Text 22"/>
          <p:cNvSpPr/>
          <p:nvPr/>
        </p:nvSpPr>
        <p:spPr>
          <a:xfrm>
            <a:off x="8153400" y="4762500"/>
            <a:ext cx="1920240" cy="1485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170"/>
              </a:lnSpc>
              <a:buNone/>
            </a:pPr>
            <a:r>
              <a:rPr lang="en-US" sz="90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Best Regressor</a:t>
            </a:r>
            <a:endParaRPr lang="en-US" sz="900" dirty="0"/>
          </a:p>
        </p:txBody>
      </p:sp>
      <p:sp>
        <p:nvSpPr>
          <p:cNvPr id="34" name="Text 23"/>
          <p:cNvSpPr/>
          <p:nvPr/>
        </p:nvSpPr>
        <p:spPr>
          <a:xfrm>
            <a:off x="2181225" y="5266282"/>
            <a:ext cx="7787640" cy="1720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4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76.33% accuracy · 5-Fold CV: ~76.2% ± 0.6%</a:t>
            </a:r>
            <a:endParaRPr lang="en-US" sz="1050" dirty="0"/>
          </a:p>
        </p:txBody>
      </p:sp>
      <p:sp>
        <p:nvSpPr>
          <p:cNvPr id="35" name="Text 24"/>
          <p:cNvSpPr/>
          <p:nvPr/>
        </p:nvSpPr>
        <p:spPr>
          <a:xfrm>
            <a:off x="8086725" y="5257800"/>
            <a:ext cx="5334000" cy="17204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4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R² = 0.9884 · RMSE = 6.98 cm</a:t>
            </a:r>
            <a:endParaRPr lang="en-US" sz="1050" dirty="0"/>
          </a:p>
        </p:txBody>
      </p:sp>
      <p:sp>
        <p:nvSpPr>
          <p:cNvPr id="36" name="Text 25"/>
          <p:cNvSpPr/>
          <p:nvPr/>
        </p:nvSpPr>
        <p:spPr>
          <a:xfrm>
            <a:off x="2181225" y="1733550"/>
            <a:ext cx="1303020" cy="6801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36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CLASSIFICATION TASK</a:t>
            </a:r>
            <a:endParaRPr lang="en-US" sz="450" dirty="0"/>
          </a:p>
        </p:txBody>
      </p:sp>
      <p:sp>
        <p:nvSpPr>
          <p:cNvPr id="37" name="Text 26"/>
          <p:cNvSpPr/>
          <p:nvPr/>
        </p:nvSpPr>
        <p:spPr>
          <a:xfrm>
            <a:off x="7058025" y="1733550"/>
            <a:ext cx="1028700" cy="6801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536"/>
              </a:lnSpc>
              <a:buNone/>
            </a:pPr>
            <a:r>
              <a:rPr lang="en-US" sz="450" b="1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REGRESSION TASK</a:t>
            </a:r>
            <a:endParaRPr lang="en-US" sz="450" dirty="0"/>
          </a:p>
        </p:txBody>
      </p:sp>
      <p:sp>
        <p:nvSpPr>
          <p:cNvPr id="38" name="Text 27"/>
          <p:cNvSpPr/>
          <p:nvPr/>
        </p:nvSpPr>
        <p:spPr>
          <a:xfrm>
            <a:off x="2181225" y="5467350"/>
            <a:ext cx="5052060" cy="17576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8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Lowest fold variance of all models</a:t>
            </a:r>
            <a:endParaRPr lang="en-US" sz="975" dirty="0"/>
          </a:p>
        </p:txBody>
      </p:sp>
      <p:sp>
        <p:nvSpPr>
          <p:cNvPr id="39" name="Text 28"/>
          <p:cNvSpPr/>
          <p:nvPr/>
        </p:nvSpPr>
        <p:spPr>
          <a:xfrm>
            <a:off x="8086725" y="5467350"/>
            <a:ext cx="8370570" cy="175766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85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5-Fold CV R²: 0.9576 ± 0.0014 — smallest variance</a:t>
            </a:r>
            <a:endParaRPr lang="en-US" sz="975" dirty="0"/>
          </a:p>
        </p:txBody>
      </p:sp>
      <p:sp>
        <p:nvSpPr>
          <p:cNvPr id="40" name="Text 29"/>
          <p:cNvSpPr/>
          <p:nvPr/>
        </p:nvSpPr>
        <p:spPr>
          <a:xfrm>
            <a:off x="657225" y="295275"/>
            <a:ext cx="1325880" cy="1360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08 / 10</a:t>
            </a:r>
            <a:endParaRPr lang="en-US" sz="900" dirty="0"/>
          </a:p>
        </p:txBody>
      </p:sp>
      <p:sp>
        <p:nvSpPr>
          <p:cNvPr id="41" name="Text 30"/>
          <p:cNvSpPr/>
          <p:nvPr/>
        </p:nvSpPr>
        <p:spPr>
          <a:xfrm>
            <a:off x="219075" y="6019800"/>
            <a:ext cx="6446520" cy="1360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Presentation CSS Specification (for developers)</a:t>
            </a:r>
            <a:endParaRPr lang="en-US" sz="900" dirty="0"/>
          </a:p>
        </p:txBody>
      </p:sp>
      <p:sp>
        <p:nvSpPr>
          <p:cNvPr id="42" name="Text 31"/>
          <p:cNvSpPr/>
          <p:nvPr/>
        </p:nvSpPr>
        <p:spPr>
          <a:xfrm>
            <a:off x="8696325" y="5981700"/>
            <a:ext cx="1645920" cy="136029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071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Hover States</a:t>
            </a:r>
            <a:endParaRPr lang="en-US" sz="900" dirty="0"/>
          </a:p>
        </p:txBody>
      </p:sp>
      <p:sp>
        <p:nvSpPr>
          <p:cNvPr id="43" name="Text 32"/>
          <p:cNvSpPr/>
          <p:nvPr/>
        </p:nvSpPr>
        <p:spPr>
          <a:xfrm>
            <a:off x="219075" y="6210300"/>
            <a:ext cx="2608808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Animation System
Page-Level Entrance
• slidePage (duration: 0.6s, timing: ease-out)
@keyframes: opacity 0 → 1, transform(80px) → 0</a:t>
            </a:r>
            <a:endParaRPr lang="en-US" sz="750" dirty="0"/>
          </a:p>
        </p:txBody>
      </p:sp>
      <p:sp>
        <p:nvSpPr>
          <p:cNvPr id="44" name="Text 33"/>
          <p:cNvSpPr/>
          <p:nvPr/>
        </p:nvSpPr>
        <p:spPr>
          <a:xfrm>
            <a:off x="2819400" y="6210300"/>
            <a:ext cx="3488978" cy="5715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9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Staggered Elements
• fadeinDown (0.5s, delay: 0.1s) + Thie. Subtitle
• fadeinLeft (0.3s): Classification Heading, Target
• growWidth (staggered 0.4s-0.9s, ease-out, fill-mode: both)
Special: Neural Network bar has continuous glow pulse.</a:t>
            </a:r>
            <a:endParaRPr lang="en-US" sz="750" dirty="0"/>
          </a:p>
        </p:txBody>
      </p:sp>
      <p:sp>
        <p:nvSpPr>
          <p:cNvPr id="45" name="Text 34"/>
          <p:cNvSpPr/>
          <p:nvPr/>
        </p:nvSpPr>
        <p:spPr>
          <a:xfrm>
            <a:off x="5953125" y="6000750"/>
            <a:ext cx="3017490" cy="365522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72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• fadein + pulse (0.4s, 0.8s): Center AI Server/Brain Graphic
• fadeinRight (0.3s): Regression Heading, Target
• growWidth (staggered 0.5s-1.0s, ease-out, fill mode: both)
Special: Decision Tree bar is highlighted.</a:t>
            </a:r>
            <a:endParaRPr lang="en-US" sz="600" dirty="0"/>
          </a:p>
        </p:txBody>
      </p:sp>
      <p:sp>
        <p:nvSpPr>
          <p:cNvPr id="46" name="Text 35"/>
          <p:cNvSpPr/>
          <p:nvPr/>
        </p:nvSpPr>
        <p:spPr>
          <a:xfrm>
            <a:off x="8696325" y="6248400"/>
            <a:ext cx="3771900" cy="274141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720"/>
              </a:lnSpc>
              <a:buNone/>
            </a:pPr>
            <a:r>
              <a:rPr lang="en-US" sz="600" dirty="0">
                <a:solidFill>
                  <a:srgbClr val="FFFFFF"/>
                </a:solidFill>
                <a:latin typeface="Plus Jakarta Sans" pitchFamily="34" charset="0"/>
                <a:ea typeface="Plus Jakarta Sans" pitchFamily="34" charset="-122"/>
                <a:cs typeface="Plus Jakarta Sans" pitchFamily="34" charset="-120"/>
              </a:rPr>
              <a:t>Bar Charts: Scale(1.02) and enhanced background highlight on hover.
Collout Boxes: intensity pulse and glow effect on best classifier/regressor boxes.
Summary Panels: scale(1.03) and subtle light effect on hover.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079" y="1577280"/>
            <a:ext cx="11362879" cy="4066729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-1352580" y="419100"/>
            <a:ext cx="15579090" cy="57745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4547"/>
              </a:lnSpc>
              <a:buNone/>
            </a:pPr>
            <a:r>
              <a:rPr lang="en-US" sz="352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Key Visualizations &amp; Findings</a:t>
            </a:r>
            <a:endParaRPr lang="en-US" sz="3525" dirty="0"/>
          </a:p>
        </p:txBody>
      </p:sp>
      <p:sp>
        <p:nvSpPr>
          <p:cNvPr id="5" name="Text 1"/>
          <p:cNvSpPr/>
          <p:nvPr/>
        </p:nvSpPr>
        <p:spPr>
          <a:xfrm>
            <a:off x="-1185431" y="1162050"/>
            <a:ext cx="15247620" cy="38397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3023"/>
              </a:lnSpc>
              <a:buNone/>
            </a:pPr>
            <a:r>
              <a:rPr lang="en-US" sz="2175" dirty="0">
                <a:solidFill>
                  <a:srgbClr val="94D2B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Visual Evidence from Machine Learning Analysis</a:t>
            </a:r>
            <a:endParaRPr lang="en-US" sz="2175" dirty="0"/>
          </a:p>
        </p:txBody>
      </p:sp>
      <p:sp>
        <p:nvSpPr>
          <p:cNvPr id="6" name="Text 2"/>
          <p:cNvSpPr/>
          <p:nvPr/>
        </p:nvSpPr>
        <p:spPr>
          <a:xfrm>
            <a:off x="409575" y="285750"/>
            <a:ext cx="2209800" cy="264765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085"/>
              </a:lnSpc>
              <a:buNone/>
            </a:pPr>
            <a:r>
              <a:rPr lang="en-US" sz="1500" b="1" dirty="0">
                <a:solidFill>
                  <a:srgbClr val="38F6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09 / 10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590550" y="5772150"/>
            <a:ext cx="12090946" cy="44231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742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“Physical flexibility and core muscular endurance emerged as the strongest individual predictors of overall
fitness classification — together accounting for over half of all model decision-making power.”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2816959" y="6324600"/>
            <a:ext cx="6926580" cy="18692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72"/>
              </a:lnSpc>
              <a:buNone/>
            </a:pPr>
            <a:r>
              <a:rPr lang="en-US" sz="1350" dirty="0">
                <a:solidFill>
                  <a:srgbClr val="38F6F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— Analysis across all 5 ML models</a:t>
            </a:r>
            <a:endParaRPr lang="en-US" sz="1350" dirty="0"/>
          </a:p>
        </p:txBody>
      </p:sp>
    </p:spTree>
  </p:cSld>
  <p:clrMapOvr>
    <a:masterClrMapping/>
  </p:clrMapOvr>
  <p:transition spd="med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800" y="3634680"/>
            <a:ext cx="2267694" cy="89148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290" y="5287417"/>
            <a:ext cx="2962573" cy="233065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6290" y="4594771"/>
            <a:ext cx="560784" cy="479971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6290" y="2633365"/>
            <a:ext cx="560784" cy="54858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704850" y="714375"/>
            <a:ext cx="12801600" cy="45720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Conclusion &amp; Recommendations</a:t>
            </a:r>
            <a:endParaRPr lang="en-US" sz="3000" dirty="0"/>
          </a:p>
        </p:txBody>
      </p:sp>
      <p:sp>
        <p:nvSpPr>
          <p:cNvPr id="8" name="Text 1"/>
          <p:cNvSpPr/>
          <p:nvPr/>
        </p:nvSpPr>
        <p:spPr>
          <a:xfrm>
            <a:off x="1724025" y="2619375"/>
            <a:ext cx="4320540" cy="3086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Neural Network</a:t>
            </a:r>
            <a:endParaRPr lang="en-US" sz="2025" dirty="0"/>
          </a:p>
        </p:txBody>
      </p:sp>
      <p:sp>
        <p:nvSpPr>
          <p:cNvPr id="9" name="Text 2"/>
          <p:cNvSpPr/>
          <p:nvPr/>
        </p:nvSpPr>
        <p:spPr>
          <a:xfrm>
            <a:off x="1724025" y="4533900"/>
            <a:ext cx="4011930" cy="30867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2430"/>
              </a:lnSpc>
              <a:buNone/>
            </a:pPr>
            <a:r>
              <a:rPr lang="en-US" sz="2025" b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Decision Tree</a:t>
            </a:r>
            <a:endParaRPr lang="en-US" sz="2025" dirty="0"/>
          </a:p>
        </p:txBody>
      </p:sp>
      <p:sp>
        <p:nvSpPr>
          <p:cNvPr id="10" name="Text 3"/>
          <p:cNvSpPr/>
          <p:nvPr/>
        </p:nvSpPr>
        <p:spPr>
          <a:xfrm>
            <a:off x="1724025" y="3343275"/>
            <a:ext cx="3836670" cy="2171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76.33% Accuracy</a:t>
            </a:r>
            <a:endParaRPr lang="en-US" sz="1425" dirty="0"/>
          </a:p>
        </p:txBody>
      </p:sp>
      <p:sp>
        <p:nvSpPr>
          <p:cNvPr id="11" name="Text 4"/>
          <p:cNvSpPr/>
          <p:nvPr/>
        </p:nvSpPr>
        <p:spPr>
          <a:xfrm>
            <a:off x="895350" y="1781175"/>
            <a:ext cx="3909060" cy="2171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RECOMMENDED MODELS</a:t>
            </a:r>
            <a:endParaRPr lang="en-US" sz="1425" dirty="0"/>
          </a:p>
        </p:txBody>
      </p:sp>
      <p:sp>
        <p:nvSpPr>
          <p:cNvPr id="12" name="Text 5"/>
          <p:cNvSpPr/>
          <p:nvPr/>
        </p:nvSpPr>
        <p:spPr>
          <a:xfrm>
            <a:off x="5791200" y="1781175"/>
            <a:ext cx="2606040" cy="2171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KEY FINDINGS</a:t>
            </a:r>
            <a:endParaRPr lang="en-US" sz="1425" dirty="0"/>
          </a:p>
        </p:txBody>
      </p:sp>
      <p:sp>
        <p:nvSpPr>
          <p:cNvPr id="13" name="Text 6"/>
          <p:cNvSpPr/>
          <p:nvPr/>
        </p:nvSpPr>
        <p:spPr>
          <a:xfrm>
            <a:off x="5791200" y="4362450"/>
            <a:ext cx="3691890" cy="21714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10"/>
              </a:lnSpc>
              <a:buNone/>
            </a:pPr>
            <a:r>
              <a:rPr lang="en-US" sz="1425" b="1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FUTURE DIRECTIONS</a:t>
            </a:r>
            <a:endParaRPr lang="en-US" sz="1425" dirty="0"/>
          </a:p>
        </p:txBody>
      </p:sp>
      <p:sp>
        <p:nvSpPr>
          <p:cNvPr id="14" name="Text 7"/>
          <p:cNvSpPr/>
          <p:nvPr/>
        </p:nvSpPr>
        <p:spPr>
          <a:xfrm>
            <a:off x="1724025" y="2343150"/>
            <a:ext cx="384048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Classification Winner</a:t>
            </a:r>
            <a:endParaRPr lang="en-US" sz="1200" dirty="0"/>
          </a:p>
        </p:txBody>
      </p:sp>
      <p:sp>
        <p:nvSpPr>
          <p:cNvPr id="15" name="Text 8"/>
          <p:cNvSpPr/>
          <p:nvPr/>
        </p:nvSpPr>
        <p:spPr>
          <a:xfrm>
            <a:off x="1724025" y="3000375"/>
            <a:ext cx="6027420" cy="1680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2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2 Hidden Layers · BatchNorm · Dropout</a:t>
            </a:r>
            <a:endParaRPr lang="en-US" sz="1050" dirty="0"/>
          </a:p>
        </p:txBody>
      </p:sp>
      <p:sp>
        <p:nvSpPr>
          <p:cNvPr id="16" name="Text 9"/>
          <p:cNvSpPr/>
          <p:nvPr/>
        </p:nvSpPr>
        <p:spPr>
          <a:xfrm>
            <a:off x="1724025" y="4267200"/>
            <a:ext cx="3108960" cy="19198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512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Regression Winner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1724025" y="4924425"/>
            <a:ext cx="6294120" cy="1680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2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max_depth = 19 · total_fitness feature</a:t>
            </a:r>
            <a:endParaRPr lang="en-US" sz="1050" dirty="0"/>
          </a:p>
        </p:txBody>
      </p:sp>
      <p:sp>
        <p:nvSpPr>
          <p:cNvPr id="18" name="Text 11"/>
          <p:cNvSpPr/>
          <p:nvPr/>
        </p:nvSpPr>
        <p:spPr>
          <a:xfrm>
            <a:off x="1028700" y="5562600"/>
            <a:ext cx="9281160" cy="16802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23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Near-perfect predictions driven by composite fitness score</a:t>
            </a:r>
            <a:endParaRPr lang="en-US" sz="1050" dirty="0"/>
          </a:p>
        </p:txBody>
      </p:sp>
      <p:sp>
        <p:nvSpPr>
          <p:cNvPr id="19" name="Text 12"/>
          <p:cNvSpPr/>
          <p:nvPr/>
        </p:nvSpPr>
        <p:spPr>
          <a:xfrm>
            <a:off x="5791200" y="2181225"/>
            <a:ext cx="6307336" cy="432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Flexibility &amp; core endurance are the top fitness class predictors –
accounting for 53% of Decision Tree decisions</a:t>
            </a:r>
            <a:endParaRPr lang="en-US" sz="1350" dirty="0"/>
          </a:p>
        </p:txBody>
      </p:sp>
      <p:sp>
        <p:nvSpPr>
          <p:cNvPr id="20" name="Text 13"/>
          <p:cNvSpPr/>
          <p:nvPr/>
        </p:nvSpPr>
        <p:spPr>
          <a:xfrm>
            <a:off x="5791200" y="2771775"/>
            <a:ext cx="6286500" cy="432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Body fat % is the strongest single negative performance indicator
across all metrics</a:t>
            </a:r>
            <a:endParaRPr lang="en-US" sz="1350" dirty="0"/>
          </a:p>
        </p:txBody>
      </p:sp>
      <p:sp>
        <p:nvSpPr>
          <p:cNvPr id="21" name="Text 14"/>
          <p:cNvSpPr/>
          <p:nvPr/>
        </p:nvSpPr>
        <p:spPr>
          <a:xfrm>
            <a:off x="5791200" y="3362325"/>
            <a:ext cx="5919788" cy="432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The B↔C boundary is the universal classification challenge –
overlapping biometric profiles across all models</a:t>
            </a:r>
            <a:endParaRPr lang="en-US" sz="1350" dirty="0"/>
          </a:p>
        </p:txBody>
      </p:sp>
      <p:sp>
        <p:nvSpPr>
          <p:cNvPr id="22" name="Text 15"/>
          <p:cNvSpPr/>
          <p:nvPr/>
        </p:nvSpPr>
        <p:spPr>
          <a:xfrm>
            <a:off x="5791200" y="4705350"/>
            <a:ext cx="14184630" cy="204043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607"/>
              </a:lnSpc>
              <a:buNone/>
            </a:pPr>
            <a:r>
              <a:rPr lang="en-US" sz="1275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Collect VO₂ max and training history data to sharpen B/C class boundaries</a:t>
            </a:r>
            <a:endParaRPr lang="en-US" sz="1275" dirty="0"/>
          </a:p>
        </p:txBody>
      </p:sp>
      <p:sp>
        <p:nvSpPr>
          <p:cNvPr id="23" name="Text 16"/>
          <p:cNvSpPr/>
          <p:nvPr/>
        </p:nvSpPr>
        <p:spPr>
          <a:xfrm>
            <a:off x="5791200" y="5029200"/>
            <a:ext cx="6066383" cy="432197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Apply SMOTE for class imbalance correction and explore deeper
ensemble architectures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5791200" y="5619750"/>
            <a:ext cx="14607540" cy="2160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Deploy Neural Network classifier as a real-time fitness evaluation tool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2181225" y="6324600"/>
            <a:ext cx="8622953" cy="360164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418"/>
              </a:lnSpc>
              <a:buNone/>
            </a:pPr>
            <a:r>
              <a:rPr lang="en-US" sz="1125" b="1" i="1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“When properly cleaned and engineered, physical fitness data contains strong and learnable
patterns – for both understanding human performance and predicting it.”</a:t>
            </a:r>
            <a:endParaRPr lang="en-US" sz="1125" dirty="0"/>
          </a:p>
        </p:txBody>
      </p:sp>
      <p:sp>
        <p:nvSpPr>
          <p:cNvPr id="26" name="Text 19"/>
          <p:cNvSpPr/>
          <p:nvPr/>
        </p:nvSpPr>
        <p:spPr>
          <a:xfrm>
            <a:off x="723900" y="457200"/>
            <a:ext cx="6515100" cy="216098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701"/>
              </a:lnSpc>
              <a:buNone/>
            </a:pPr>
            <a:r>
              <a:rPr lang="en-US" sz="1350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PART 3 — PERFORMANCE EVALUATION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9011573" y="6467475"/>
            <a:ext cx="304038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r">
              <a:lnSpc>
                <a:spcPts val="1260"/>
              </a:lnSpc>
              <a:buNone/>
            </a:pPr>
            <a:r>
              <a:rPr lang="en-US" sz="1050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End of Presentation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285750" y="6467475"/>
            <a:ext cx="2346960" cy="15999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260"/>
              </a:lnSpc>
              <a:buNone/>
            </a:pPr>
            <a:r>
              <a:rPr lang="en-US" sz="1050" dirty="0">
                <a:solidFill>
                  <a:srgbClr val="67F7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Page 10 / 10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2894141" y="2352675"/>
            <a:ext cx="2823210" cy="1485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CLASSIFICATION TASK</a:t>
            </a:r>
            <a:endParaRPr lang="en-US" sz="975" dirty="0"/>
          </a:p>
        </p:txBody>
      </p:sp>
      <p:sp>
        <p:nvSpPr>
          <p:cNvPr id="30" name="Text 23"/>
          <p:cNvSpPr/>
          <p:nvPr/>
        </p:nvSpPr>
        <p:spPr>
          <a:xfrm>
            <a:off x="3289920" y="4286250"/>
            <a:ext cx="2228850" cy="14853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 algn="ctr">
              <a:lnSpc>
                <a:spcPts val="1170"/>
              </a:lnSpc>
              <a:buNone/>
            </a:pPr>
            <a:r>
              <a:rPr lang="en-US" sz="975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REGRESSION TASK</a:t>
            </a:r>
            <a:endParaRPr lang="en-US" sz="975" dirty="0"/>
          </a:p>
        </p:txBody>
      </p:sp>
      <p:sp>
        <p:nvSpPr>
          <p:cNvPr id="31" name="Text 24"/>
          <p:cNvSpPr/>
          <p:nvPr/>
        </p:nvSpPr>
        <p:spPr>
          <a:xfrm>
            <a:off x="1057275" y="3629025"/>
            <a:ext cx="9601200" cy="171450"/>
          </a:xfrm>
          <a:prstGeom prst="rect">
            <a:avLst/>
          </a:prstGeom>
          <a:noFill/>
          <a:ln/>
        </p:spPr>
        <p:txBody>
          <a:bodyPr vert="horz" wrap="non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25" dirty="0">
                <a:solidFill>
                  <a:srgbClr val="FFFFFF"/>
                </a:solidFill>
                <a:latin typeface="Exo 2" pitchFamily="34" charset="0"/>
                <a:ea typeface="Exo 2" pitchFamily="34" charset="-122"/>
                <a:cs typeface="Exo 2" pitchFamily="34" charset="-120"/>
              </a:rPr>
              <a:t>Best at learning complex non-linear feature interactions</a:t>
            </a:r>
            <a:endParaRPr lang="en-US" sz="1125" dirty="0"/>
          </a:p>
        </p:txBody>
      </p:sp>
    </p:spTree>
  </p:cSld>
  <p:clrMapOvr>
    <a:masterClrMapping/>
  </p:clrMapOvr>
  <p:transition spd="slow">
    <p:wipe dir="r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1328</Words>
  <Application>Microsoft Office PowerPoint</Application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3" baseType="lpstr">
      <vt:lpstr>Arial-Black</vt:lpstr>
      <vt:lpstr>Din Pro</vt:lpstr>
      <vt:lpstr>Exo 2</vt:lpstr>
      <vt:lpstr>Merriweather-Bold</vt:lpstr>
      <vt:lpstr>OpenSans-Bold</vt:lpstr>
      <vt:lpstr>Plus Jakarta Sans</vt:lpstr>
      <vt:lpstr>Roboto-BoldItalic</vt:lpstr>
      <vt:lpstr>Roboto-Regular</vt:lpstr>
      <vt:lpstr>Arial</vt:lpstr>
      <vt:lpstr>Poppins</vt:lpstr>
      <vt:lpstr>Roboto Condensed</vt:lpstr>
      <vt:lpstr>Roboto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Elhamahmy, hoda 30102047</cp:lastModifiedBy>
  <cp:revision>5</cp:revision>
  <dcterms:created xsi:type="dcterms:W3CDTF">2026-03-29T07:29:55Z</dcterms:created>
  <dcterms:modified xsi:type="dcterms:W3CDTF">2026-03-29T09:30:46Z</dcterms:modified>
</cp:coreProperties>
</file>